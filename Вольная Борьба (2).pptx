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0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2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Травмы %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E71-4D3D-B466-5126F5ED0D9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E71-4D3D-B466-5126F5ED0D9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E71-4D3D-B466-5126F5ED0D9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E71-4D3D-B466-5126F5ED0D95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BE71-4D3D-B466-5126F5ED0D95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BE71-4D3D-B466-5126F5ED0D95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BE71-4D3D-B466-5126F5ED0D95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BE71-4D3D-B466-5126F5ED0D95}"/>
              </c:ext>
            </c:extLst>
          </c:dPt>
          <c:cat>
            <c:strRef>
              <c:f>Лист1!$A$2:$A$9</c:f>
              <c:strCache>
                <c:ptCount val="8"/>
                <c:pt idx="0">
                  <c:v>Растяжение </c:v>
                </c:pt>
                <c:pt idx="1">
                  <c:v>Ушибы</c:v>
                </c:pt>
                <c:pt idx="2">
                  <c:v>Повреждение мышц и</c:v>
                </c:pt>
                <c:pt idx="3">
                  <c:v>Ссадины</c:v>
                </c:pt>
                <c:pt idx="4">
                  <c:v>Переломы</c:v>
                </c:pt>
                <c:pt idx="5">
                  <c:v>Вывихи</c:v>
                </c:pt>
                <c:pt idx="6">
                  <c:v>Сотрясение мозга</c:v>
                </c:pt>
                <c:pt idx="7">
                  <c:v>Другие</c:v>
                </c:pt>
              </c:strCache>
            </c:strRef>
          </c:cat>
          <c:val>
            <c:numRef>
              <c:f>Лист1!$B$2:$B$9</c:f>
              <c:numCache>
                <c:formatCode>General</c:formatCode>
                <c:ptCount val="8"/>
                <c:pt idx="0">
                  <c:v>38.9</c:v>
                </c:pt>
                <c:pt idx="1">
                  <c:v>31.1</c:v>
                </c:pt>
                <c:pt idx="2">
                  <c:v>11.2</c:v>
                </c:pt>
                <c:pt idx="3">
                  <c:v>8.5</c:v>
                </c:pt>
                <c:pt idx="4">
                  <c:v>4.3</c:v>
                </c:pt>
                <c:pt idx="5">
                  <c:v>3.5</c:v>
                </c:pt>
                <c:pt idx="6">
                  <c:v>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BE71-4D3D-B466-5126F5ED0D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04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601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610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007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908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063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237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594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831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612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2554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807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7664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7766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5441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1032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295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363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3" r:id="rId13"/>
    <p:sldLayoutId id="2147483824" r:id="rId14"/>
    <p:sldLayoutId id="2147483825" r:id="rId15"/>
    <p:sldLayoutId id="2147483826" r:id="rId16"/>
    <p:sldLayoutId id="214748382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robolezny.ru/bursit-kolennogo-sustava/" TargetMode="External"/><Relationship Id="rId3" Type="http://schemas.openxmlformats.org/officeDocument/2006/relationships/hyperlink" Target="https://infourok.ru/vidi-povrezhdeniy-travm-u-borcov-1066802.html?ysclid=m85ay5brxn845560604" TargetMode="External"/><Relationship Id="rId7" Type="http://schemas.openxmlformats.org/officeDocument/2006/relationships/hyperlink" Target="https://www.krasotaimedicina.ru/symptom/joint-pain/shoulder" TargetMode="External"/><Relationship Id="rId2" Type="http://schemas.openxmlformats.org/officeDocument/2006/relationships/hyperlink" Target="https://www.sportmedicine.ru/wrestling.php?ysclid=m85awcn13a56781069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medaboutme.ru/articles/samye_rasprostranennye_travmy_stopy_i_ikh_lechenie/" TargetMode="External"/><Relationship Id="rId5" Type="http://schemas.openxmlformats.org/officeDocument/2006/relationships/hyperlink" Target="https://www.sportmedicine.ru/wrestling.php" TargetMode="External"/><Relationship Id="rId4" Type="http://schemas.openxmlformats.org/officeDocument/2006/relationships/hyperlink" Target="https://ru.wikipedia.org/wiki/%D0%92%D0%BE%D0%BB%D1%8C%D0%BD%D0%B0%D1%8F_%D0%B1%D0%BE%D1%80%D1%8C%D0%B1%D0%B0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E58348C3-6249-4952-AA86-C63DB35EA9F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E6174AD-DBB0-43E6-98C2-738DB3A1524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959100" y="-4763"/>
            <a:ext cx="5014912" cy="6862763"/>
            <a:chOff x="2928938" y="-4763"/>
            <a:chExt cx="5014912" cy="6862763"/>
          </a:xfrm>
        </p:grpSpPr>
        <p:sp>
          <p:nvSpPr>
            <p:cNvPr id="29" name="Freeform 6">
              <a:extLst>
                <a:ext uri="{FF2B5EF4-FFF2-40B4-BE49-F238E27FC236}">
                  <a16:creationId xmlns:a16="http://schemas.microsoft.com/office/drawing/2014/main" id="{50A59800-3661-4778-9D8A-F816C85C41D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7A810977-C816-4698-B7E7-0E6BDED794A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181E4B1B-2437-4A14-8927-817FC7AED67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F98AD26-9FF7-44EA-B876-9C857F8ED97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32EBB12A-A9CE-446F-9462-15DAC0D0FA5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34" name="Freeform 12">
              <a:extLst>
                <a:ext uri="{FF2B5EF4-FFF2-40B4-BE49-F238E27FC236}">
                  <a16:creationId xmlns:a16="http://schemas.microsoft.com/office/drawing/2014/main" id="{85925599-F99B-48E5-A384-76136C0818B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448299" y="1380068"/>
            <a:ext cx="6054723" cy="2616199"/>
          </a:xfrm>
        </p:spPr>
        <p:txBody>
          <a:bodyPr vert="horz" lIns="228600" tIns="228600" rIns="228600" bIns="22860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 dirty="0" err="1">
                <a:latin typeface="Times New Roman"/>
                <a:cs typeface="Times New Roman"/>
              </a:rPr>
              <a:t>Рекомендации</a:t>
            </a:r>
            <a:r>
              <a:rPr lang="en-US" sz="3300" dirty="0">
                <a:latin typeface="Times New Roman"/>
                <a:cs typeface="Times New Roman"/>
              </a:rPr>
              <a:t> </a:t>
            </a:r>
            <a:r>
              <a:rPr lang="en-US" sz="3300" dirty="0" err="1">
                <a:latin typeface="Times New Roman"/>
                <a:cs typeface="Times New Roman"/>
              </a:rPr>
              <a:t>по</a:t>
            </a:r>
            <a:r>
              <a:rPr lang="en-US" sz="3300" dirty="0">
                <a:latin typeface="Times New Roman"/>
                <a:cs typeface="Times New Roman"/>
              </a:rPr>
              <a:t> </a:t>
            </a:r>
            <a:r>
              <a:rPr lang="en-US" sz="3300" dirty="0" err="1">
                <a:latin typeface="Times New Roman"/>
                <a:cs typeface="Times New Roman"/>
              </a:rPr>
              <a:t>оказанию</a:t>
            </a:r>
            <a:r>
              <a:rPr lang="en-US" sz="3300" dirty="0">
                <a:latin typeface="Times New Roman"/>
                <a:cs typeface="Times New Roman"/>
              </a:rPr>
              <a:t> </a:t>
            </a:r>
            <a:r>
              <a:rPr lang="en-US" sz="3300" dirty="0" err="1">
                <a:latin typeface="Times New Roman"/>
                <a:cs typeface="Times New Roman"/>
              </a:rPr>
              <a:t>первой</a:t>
            </a:r>
            <a:r>
              <a:rPr lang="en-US" sz="3300" dirty="0">
                <a:latin typeface="Times New Roman"/>
                <a:cs typeface="Times New Roman"/>
              </a:rPr>
              <a:t> </a:t>
            </a:r>
            <a:r>
              <a:rPr lang="en-US" sz="3300" dirty="0" err="1">
                <a:latin typeface="Times New Roman"/>
                <a:cs typeface="Times New Roman"/>
              </a:rPr>
              <a:t>помощи</a:t>
            </a:r>
            <a:r>
              <a:rPr lang="en-US" sz="3300" dirty="0">
                <a:latin typeface="Times New Roman"/>
                <a:cs typeface="Times New Roman"/>
              </a:rPr>
              <a:t> </a:t>
            </a:r>
            <a:r>
              <a:rPr lang="en-US" sz="3300" dirty="0" err="1">
                <a:latin typeface="Times New Roman"/>
                <a:cs typeface="Times New Roman"/>
              </a:rPr>
              <a:t>при</a:t>
            </a:r>
            <a:r>
              <a:rPr lang="en-US" sz="3300" dirty="0">
                <a:latin typeface="Times New Roman"/>
                <a:cs typeface="Times New Roman"/>
              </a:rPr>
              <a:t> </a:t>
            </a:r>
            <a:r>
              <a:rPr lang="en-US" sz="3300" dirty="0" err="1">
                <a:latin typeface="Times New Roman"/>
                <a:cs typeface="Times New Roman"/>
              </a:rPr>
              <a:t>получении</a:t>
            </a:r>
            <a:r>
              <a:rPr lang="en-US" sz="3300" dirty="0">
                <a:latin typeface="Times New Roman"/>
                <a:cs typeface="Times New Roman"/>
              </a:rPr>
              <a:t> </a:t>
            </a:r>
            <a:r>
              <a:rPr lang="en-US" sz="3300" dirty="0" err="1">
                <a:latin typeface="Times New Roman"/>
                <a:cs typeface="Times New Roman"/>
              </a:rPr>
              <a:t>травм</a:t>
            </a:r>
            <a:r>
              <a:rPr lang="en-US" sz="3300" dirty="0">
                <a:latin typeface="Times New Roman"/>
                <a:cs typeface="Times New Roman"/>
              </a:rPr>
              <a:t> </a:t>
            </a:r>
            <a:r>
              <a:rPr lang="en-US" sz="3300" dirty="0" err="1">
                <a:latin typeface="Times New Roman"/>
                <a:cs typeface="Times New Roman"/>
              </a:rPr>
              <a:t>во</a:t>
            </a:r>
            <a:r>
              <a:rPr lang="en-US" sz="3300" dirty="0">
                <a:latin typeface="Times New Roman"/>
                <a:cs typeface="Times New Roman"/>
              </a:rPr>
              <a:t> </a:t>
            </a:r>
            <a:r>
              <a:rPr lang="en-US" sz="3300" dirty="0" err="1">
                <a:latin typeface="Times New Roman"/>
                <a:cs typeface="Times New Roman"/>
              </a:rPr>
              <a:t>время</a:t>
            </a:r>
            <a:r>
              <a:rPr lang="en-US" sz="3300" dirty="0">
                <a:latin typeface="Times New Roman"/>
                <a:cs typeface="Times New Roman"/>
              </a:rPr>
              <a:t> </a:t>
            </a:r>
            <a:r>
              <a:rPr lang="en-US" sz="3300" dirty="0" err="1">
                <a:latin typeface="Times New Roman"/>
                <a:cs typeface="Times New Roman"/>
              </a:rPr>
              <a:t>занятий</a:t>
            </a:r>
            <a:r>
              <a:rPr lang="en-US" sz="3300" dirty="0">
                <a:latin typeface="Times New Roman"/>
                <a:cs typeface="Times New Roman"/>
              </a:rPr>
              <a:t> </a:t>
            </a:r>
            <a:r>
              <a:rPr lang="ru-RU" sz="3300" dirty="0" err="1">
                <a:latin typeface="Times New Roman"/>
                <a:cs typeface="Times New Roman"/>
              </a:rPr>
              <a:t>в</a:t>
            </a:r>
            <a:r>
              <a:rPr lang="en-US" sz="3300" dirty="0" err="1" smtClean="0">
                <a:latin typeface="Times New Roman"/>
                <a:cs typeface="Times New Roman"/>
              </a:rPr>
              <a:t>ольной</a:t>
            </a:r>
            <a:r>
              <a:rPr lang="en-US" sz="3300" dirty="0" smtClean="0">
                <a:latin typeface="Times New Roman"/>
                <a:cs typeface="Times New Roman"/>
              </a:rPr>
              <a:t> </a:t>
            </a:r>
            <a:r>
              <a:rPr lang="ru-RU" sz="3300" dirty="0">
                <a:latin typeface="Times New Roman"/>
                <a:cs typeface="Times New Roman"/>
              </a:rPr>
              <a:t>б</a:t>
            </a:r>
            <a:r>
              <a:rPr lang="en-US" sz="3300" dirty="0" err="1" smtClean="0">
                <a:latin typeface="Times New Roman"/>
                <a:cs typeface="Times New Roman"/>
              </a:rPr>
              <a:t>орьбой</a:t>
            </a:r>
            <a:endParaRPr lang="en-US" sz="3300" dirty="0"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</a:pPr>
            <a:endParaRPr lang="en-US" sz="33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772399" y="3644814"/>
            <a:ext cx="3730623" cy="1388534"/>
          </a:xfrm>
          <a:ln>
            <a:solidFill>
              <a:schemeClr val="tx2"/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>
              <a:lnSpc>
                <a:spcPct val="90000"/>
              </a:lnSpc>
              <a:buClr>
                <a:srgbClr val="FF4473"/>
              </a:buClr>
            </a:pPr>
            <a:r>
              <a:rPr lang="en-US" sz="1900" dirty="0" err="1">
                <a:latin typeface="Times New Roman"/>
                <a:cs typeface="Times New Roman"/>
              </a:rPr>
              <a:t>Работу</a:t>
            </a:r>
            <a:r>
              <a:rPr lang="en-US" sz="1900" dirty="0">
                <a:latin typeface="Times New Roman"/>
                <a:cs typeface="Times New Roman"/>
              </a:rPr>
              <a:t> </a:t>
            </a:r>
            <a:r>
              <a:rPr lang="en-US" sz="1900" dirty="0" err="1">
                <a:latin typeface="Times New Roman"/>
                <a:cs typeface="Times New Roman"/>
              </a:rPr>
              <a:t>выполнил</a:t>
            </a:r>
            <a:r>
              <a:rPr lang="en-US" sz="1900" dirty="0">
                <a:latin typeface="Times New Roman"/>
                <a:cs typeface="Times New Roman"/>
              </a:rPr>
              <a:t> </a:t>
            </a:r>
            <a:r>
              <a:rPr lang="en-US" sz="1900" dirty="0" err="1">
                <a:latin typeface="Times New Roman"/>
                <a:cs typeface="Times New Roman"/>
              </a:rPr>
              <a:t>ученик</a:t>
            </a:r>
            <a:r>
              <a:rPr lang="en-US" sz="1900" dirty="0">
                <a:latin typeface="Times New Roman"/>
                <a:cs typeface="Times New Roman"/>
              </a:rPr>
              <a:t> 9Л </a:t>
            </a:r>
            <a:r>
              <a:rPr lang="en-US" sz="1900" dirty="0" err="1" smtClean="0">
                <a:latin typeface="Times New Roman"/>
                <a:cs typeface="Times New Roman"/>
              </a:rPr>
              <a:t>класса</a:t>
            </a:r>
            <a:endParaRPr lang="ru-RU" sz="1900" dirty="0" smtClean="0"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  <a:buClr>
                <a:srgbClr val="FF4473"/>
              </a:buClr>
            </a:pPr>
            <a:r>
              <a:rPr lang="ru-RU" sz="1900" dirty="0" err="1" smtClean="0">
                <a:latin typeface="Times New Roman"/>
                <a:cs typeface="Times New Roman"/>
              </a:rPr>
              <a:t>Цыриторон</a:t>
            </a:r>
            <a:r>
              <a:rPr lang="ru-RU" sz="1900" dirty="0" smtClean="0">
                <a:latin typeface="Times New Roman"/>
                <a:cs typeface="Times New Roman"/>
              </a:rPr>
              <a:t> </a:t>
            </a:r>
            <a:r>
              <a:rPr lang="ru-RU" sz="1900" dirty="0" err="1" smtClean="0">
                <a:latin typeface="Times New Roman"/>
                <a:cs typeface="Times New Roman"/>
              </a:rPr>
              <a:t>Амгалан</a:t>
            </a:r>
            <a:endParaRPr lang="en-US" sz="1900" dirty="0"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  <a:buClr>
                <a:srgbClr val="FF4473"/>
              </a:buClr>
            </a:pPr>
            <a:r>
              <a:rPr lang="en-US" sz="1900" dirty="0" err="1" smtClean="0">
                <a:latin typeface="Times New Roman"/>
                <a:cs typeface="Times New Roman"/>
              </a:rPr>
              <a:t>Руководитель</a:t>
            </a:r>
            <a:r>
              <a:rPr lang="en-US" sz="1900" dirty="0" smtClean="0">
                <a:latin typeface="Times New Roman"/>
                <a:cs typeface="Times New Roman"/>
              </a:rPr>
              <a:t> </a:t>
            </a:r>
            <a:r>
              <a:rPr lang="en-US" sz="1900" dirty="0" err="1" smtClean="0">
                <a:latin typeface="Times New Roman"/>
                <a:cs typeface="Times New Roman"/>
              </a:rPr>
              <a:t>проекта</a:t>
            </a:r>
          </a:p>
          <a:p>
            <a:pPr>
              <a:lnSpc>
                <a:spcPct val="90000"/>
              </a:lnSpc>
              <a:buClr>
                <a:srgbClr val="FF4473"/>
              </a:buClr>
            </a:pP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Фортушенко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Семён 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Игоревич</a:t>
            </a:r>
            <a:endParaRPr lang="ru-RU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3">
            <a:extLst>
              <a:ext uri="{FF2B5EF4-FFF2-40B4-BE49-F238E27FC236}">
                <a16:creationId xmlns:a16="http://schemas.microsoft.com/office/drawing/2014/main" id="{08ADBFD1-5F44-C51F-42C8-55B32043F1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469" t="4717" r="1835" b="2"/>
          <a:stretch/>
        </p:blipFill>
        <p:spPr>
          <a:xfrm>
            <a:off x="20" y="10"/>
            <a:ext cx="5448280" cy="6857990"/>
          </a:xfrm>
          <a:custGeom>
            <a:avLst/>
            <a:gdLst/>
            <a:ahLst/>
            <a:cxnLst/>
            <a:rect l="l" t="t" r="r" b="b"/>
            <a:pathLst>
              <a:path w="5448300" h="6858000">
                <a:moveTo>
                  <a:pt x="0" y="0"/>
                </a:moveTo>
                <a:lnTo>
                  <a:pt x="3513666" y="0"/>
                </a:lnTo>
                <a:lnTo>
                  <a:pt x="2861733" y="2548466"/>
                </a:lnTo>
                <a:lnTo>
                  <a:pt x="5448300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839EF335-FB3B-2602-172F-088B5C51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372" y="162098"/>
            <a:ext cx="10018713" cy="1124464"/>
          </a:xfrm>
        </p:spPr>
        <p:txBody>
          <a:bodyPr>
            <a:normAutofit/>
          </a:bodyPr>
          <a:lstStyle/>
          <a:p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DDA422F1-609A-DF99-38A9-C66A45A06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2052" y="1172095"/>
            <a:ext cx="9476508" cy="482969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ru-RU" b="1" dirty="0" smtClean="0"/>
          </a:p>
          <a:p>
            <a:pPr marL="0" indent="0">
              <a:buNone/>
            </a:pPr>
            <a:endParaRPr lang="ru-RU" sz="3600" b="1" dirty="0"/>
          </a:p>
          <a:p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Я считаю, что эту тему актуальной, потому что вольная борьба является олимпийским видом и представляет собой физически интенсивным спортом, который связан с определенными рисками травм для спортсменов.</a:t>
            </a:r>
          </a:p>
          <a:p>
            <a:pPr>
              <a:buClr>
                <a:srgbClr val="1287C3"/>
              </a:buClr>
            </a:pP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</a:t>
            </a: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проекта: 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буклета с рекомендациями по оказанию первой помощи при травмах во время занятий вольной 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борьбой</a:t>
            </a:r>
          </a:p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исследования: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Травмы в вольной борьбе.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35774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E9E6175-5B36-443E-0D29-60DA967668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84312" y="669325"/>
            <a:ext cx="4941426" cy="5357401"/>
          </a:xfr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 algn="ctr">
              <a:lnSpc>
                <a:spcPct val="170000"/>
              </a:lnSpc>
              <a:spcAft>
                <a:spcPts val="0"/>
              </a:spcAft>
              <a:buClr>
                <a:srgbClr val="1287C3"/>
              </a:buClr>
              <a:buNone/>
            </a:pPr>
            <a:r>
              <a:rPr lang="ru-RU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Гипотеза</a:t>
            </a:r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ru-RU" sz="3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1287C3"/>
              </a:buClr>
            </a:pPr>
            <a:r>
              <a:rPr lang="ru-RU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Буклет </a:t>
            </a: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рекомендациями по оказанию первой помощи в вольной борьбе повысит осведомлённость тренеров и спортсменов о травмах, что улучшит качество и своевременность оказания помощи и снизит тяжесть последствий травм.</a:t>
            </a:r>
          </a:p>
          <a:p>
            <a:pPr algn="ctr">
              <a:buClr>
                <a:srgbClr val="1287C3"/>
              </a:buClr>
            </a:pPr>
            <a:endParaRPr lang="ru-RU" sz="3200" dirty="0">
              <a:latin typeface="Times New Roman"/>
              <a:cs typeface="Times New Roman"/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62CB58E-FFE3-1E1C-C2AC-A64BCCC617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07967" y="669325"/>
            <a:ext cx="5063102" cy="5357402"/>
          </a:xfr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 algn="ctr">
              <a:lnSpc>
                <a:spcPct val="170000"/>
              </a:lnSpc>
              <a:spcAft>
                <a:spcPts val="0"/>
              </a:spcAft>
              <a:buNone/>
            </a:pPr>
            <a:r>
              <a:rPr lang="ru-RU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</a:t>
            </a:r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проекта:</a:t>
            </a:r>
          </a:p>
          <a:p>
            <a:pPr lvl="0"/>
            <a:r>
              <a:rPr lang="ru-RU" sz="3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Анализирование</a:t>
            </a:r>
            <a:r>
              <a:rPr lang="ru-RU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основных видов травм, полученных в результате занятий вольной борьбой.</a:t>
            </a:r>
          </a:p>
          <a:p>
            <a:pPr lvl="0"/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Составить рекомендации первой медицинской помощи при получении травмы у спортсмена.</a:t>
            </a:r>
          </a:p>
          <a:p>
            <a:pPr lvl="0"/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Найти способ снизить риск травмы у спортсмена.</a:t>
            </a:r>
          </a:p>
          <a:p>
            <a:pPr lvl="0"/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продукта (буклет</a:t>
            </a:r>
            <a:r>
              <a:rPr lang="ru-RU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9232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Рисунок 5" descr="Изображение выглядит как графическая вставка, Графика, мультфильм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FF4EA1B6-D58F-5CE8-D90C-58EE030C8C3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196" r="10952"/>
          <a:stretch/>
        </p:blipFill>
        <p:spPr>
          <a:xfrm>
            <a:off x="6892923" y="7154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B43F7866-2D38-336D-B1CB-763EEB545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104060"/>
            <a:ext cx="5260680" cy="1196545"/>
          </a:xfrm>
        </p:spPr>
        <p:txBody>
          <a:bodyPr>
            <a:normAutofit/>
          </a:bodyPr>
          <a:lstStyle/>
          <a:p>
            <a:pPr algn="l"/>
            <a:r>
              <a:rPr lang="ru-RU" sz="3600" dirty="0">
                <a:latin typeface="Times New Roman"/>
                <a:cs typeface="Times New Roman"/>
              </a:rPr>
              <a:t>История Вольной Борьбы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8855B9-5761-64A1-A1AF-155805797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379" y="1228112"/>
            <a:ext cx="5700743" cy="4923307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ru-RU" sz="2000" dirty="0" smtClean="0">
                <a:latin typeface="Times New Roman, serif"/>
                <a:ea typeface="Times New Roman, serif"/>
                <a:cs typeface="Times New Roman, serif"/>
              </a:rPr>
              <a:t>Прародитель вольной борьбы считается английское графство Ланкашир. </a:t>
            </a:r>
            <a:r>
              <a:rPr lang="ru-RU" sz="2000" b="0" i="0" dirty="0" smtClean="0">
                <a:latin typeface="Times New Roman, serif"/>
                <a:ea typeface="Times New Roman, serif"/>
                <a:cs typeface="Times New Roman, serif"/>
              </a:rPr>
              <a:t>Особой любовью она пользовалась у студентов высших учебных заведений США</a:t>
            </a:r>
            <a:r>
              <a:rPr lang="ru-RU" sz="2000" dirty="0" smtClean="0">
                <a:latin typeface="Times New Roman, serif"/>
                <a:ea typeface="Times New Roman, serif"/>
                <a:cs typeface="Times New Roman, serif"/>
              </a:rPr>
              <a:t> и называлась </a:t>
            </a:r>
            <a:r>
              <a:rPr lang="af-ZA" sz="2000" dirty="0" smtClean="0">
                <a:latin typeface="Times New Roman, serif"/>
                <a:ea typeface="Times New Roman, serif"/>
                <a:cs typeface="Times New Roman, serif"/>
              </a:rPr>
              <a:t>Catch (</a:t>
            </a:r>
            <a:r>
              <a:rPr lang="ru-RU" sz="2000" dirty="0" smtClean="0">
                <a:latin typeface="Times New Roman, serif"/>
                <a:ea typeface="Times New Roman, serif"/>
                <a:cs typeface="Times New Roman, serif"/>
              </a:rPr>
              <a:t>с англ. Захват).</a:t>
            </a:r>
            <a:r>
              <a:rPr lang="ru-RU" sz="2000" b="0" i="0" dirty="0" smtClean="0">
                <a:latin typeface="Times New Roman, serif"/>
                <a:ea typeface="Times New Roman, serif"/>
                <a:cs typeface="Times New Roman, serif"/>
              </a:rPr>
              <a:t> Турнир по вольной борьбе впервые вошел в программу Олимпийских игр в 1904 году в Сент-Луисе. </a:t>
            </a:r>
            <a:r>
              <a:rPr lang="ru-RU" sz="2000" b="0" i="0" dirty="0" smtClean="0">
                <a:latin typeface="Times New Roman, serif"/>
                <a:ea typeface="Times New Roman, serif"/>
                <a:cs typeface="Times New Roman, serif"/>
              </a:rPr>
              <a:t>Наибольшую </a:t>
            </a:r>
            <a:r>
              <a:rPr lang="ru-RU" sz="2000" b="0" i="0" dirty="0" smtClean="0">
                <a:latin typeface="Times New Roman, serif"/>
                <a:ea typeface="Times New Roman, serif"/>
                <a:cs typeface="Times New Roman, serif"/>
              </a:rPr>
              <a:t>популярность она приобрела в закавказских республиках СССР. Дебют на Олимпиадах состоялся через 7 лет в 1952 году.</a:t>
            </a:r>
            <a:r>
              <a:rPr lang="ru-RU" sz="2000" dirty="0" smtClean="0">
                <a:latin typeface="Times New Roman, serif"/>
                <a:ea typeface="Times New Roman, serif"/>
                <a:cs typeface="Times New Roman, serif"/>
              </a:rPr>
              <a:t> </a:t>
            </a:r>
            <a:r>
              <a:rPr lang="ru-RU" sz="2000" b="0" i="0" dirty="0" smtClean="0">
                <a:latin typeface="Times New Roman, serif"/>
                <a:ea typeface="Times New Roman, serif"/>
                <a:cs typeface="Times New Roman, serif"/>
              </a:rPr>
              <a:t> В 1912 году создан и начал функционировать Международный союз борцов </a:t>
            </a:r>
            <a:r>
              <a:rPr lang="af-ZA" sz="2000" b="0" i="0" dirty="0" smtClean="0">
                <a:latin typeface="Times New Roman, serif"/>
                <a:ea typeface="Times New Roman, serif"/>
                <a:cs typeface="Times New Roman, serif"/>
              </a:rPr>
              <a:t>FILA</a:t>
            </a:r>
            <a:r>
              <a:rPr lang="ru-RU" sz="2000" b="0" i="0" dirty="0" smtClean="0">
                <a:latin typeface="Times New Roman, serif"/>
                <a:ea typeface="Times New Roman, serif"/>
                <a:cs typeface="Times New Roman, serif"/>
              </a:rPr>
              <a:t> — </a:t>
            </a:r>
            <a:r>
              <a:rPr lang="ru-RU" sz="2000" b="0" i="0" dirty="0" smtClean="0">
                <a:latin typeface="Times New Roman, serif"/>
                <a:ea typeface="Times New Roman, serif"/>
                <a:cs typeface="Times New Roman, serif"/>
              </a:rPr>
              <a:t>международная </a:t>
            </a:r>
            <a:r>
              <a:rPr lang="ru-RU" sz="2000" b="0" i="0" dirty="0" smtClean="0">
                <a:latin typeface="Times New Roman, serif"/>
                <a:ea typeface="Times New Roman, serif"/>
                <a:cs typeface="Times New Roman, serif"/>
              </a:rPr>
              <a:t>организация. Сегодня </a:t>
            </a:r>
            <a:r>
              <a:rPr lang="ru-RU" sz="2000" b="0" i="0" dirty="0" smtClean="0">
                <a:latin typeface="Times New Roman, serif"/>
                <a:ea typeface="Times New Roman, serif"/>
                <a:cs typeface="Times New Roman, serif"/>
              </a:rPr>
              <a:t>в него входят свыше 130 национальных федераций. 1921 стал годом образования Международной федерации любительской </a:t>
            </a:r>
            <a:r>
              <a:rPr lang="ru-RU" sz="2000" b="0" i="0" dirty="0" smtClean="0">
                <a:latin typeface="Times New Roman, serif"/>
                <a:ea typeface="Times New Roman, serif"/>
                <a:cs typeface="Times New Roman, serif"/>
              </a:rPr>
              <a:t>борьбы. </a:t>
            </a:r>
            <a:endParaRPr lang="ru-RU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67215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EFB7F9-8C62-D6FB-5339-2DEEAD8AE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294503"/>
            <a:ext cx="10018713" cy="691978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/>
                <a:cs typeface="Times New Roman"/>
              </a:rPr>
              <a:t>Правила в Вольной Борьбе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8855B9-5761-64A1-A1AF-155805797F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91636" y="988540"/>
            <a:ext cx="4477149" cy="5279256"/>
          </a:xfr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 algn="ctr">
              <a:lnSpc>
                <a:spcPct val="170000"/>
              </a:lnSpc>
              <a:spcAft>
                <a:spcPts val="0"/>
              </a:spcAft>
              <a:buNone/>
            </a:pPr>
            <a:r>
              <a:rPr lang="ru-R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Тайминги</a:t>
            </a:r>
            <a:endParaRPr lang="ru-RU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Clr>
                <a:srgbClr val="1287C3"/>
              </a:buClr>
              <a:buNone/>
            </a:pP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Типичный поединок по вольной борьбе, во многом похожий на греко-римский, разделен на два периода по три минуты каждый с 30-секундным перерывом между ними. </a:t>
            </a:r>
            <a:r>
              <a:rPr lang="ru-RU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Два </a:t>
            </a: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соревнующихся борца сталкиваются друг с другом на ковре диаметром семь метров с основной целью прижать плечи противника к ковру на короткий промежуток времени, что обеспечивает борцу мгновенную победу "падением".</a:t>
            </a:r>
          </a:p>
          <a:p>
            <a:pPr algn="ctr">
              <a:buClr>
                <a:srgbClr val="1287C3"/>
              </a:buClr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403547D-0266-FD68-7009-A0B91D2E9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26727" y="988541"/>
            <a:ext cx="5660968" cy="5279255"/>
          </a:xfr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 algn="ctr">
              <a:lnSpc>
                <a:spcPct val="170000"/>
              </a:lnSpc>
              <a:spcAft>
                <a:spcPts val="0"/>
              </a:spcAft>
              <a:buNone/>
            </a:pPr>
            <a:r>
              <a:rPr lang="ru-R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Способы победить</a:t>
            </a:r>
            <a:endParaRPr lang="ru-RU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Clr>
                <a:srgbClr val="1287C3"/>
              </a:buClr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Борцы могут попытаться набрать очки, выполняя разрешенные приемы, броски,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тейкдауны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За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приемы начисляются очки в соответствии с их степенью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сложности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 1 до 5 очков.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Борец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также может заработать очки, если его противник совершает нарушения, например, выполняет незаконные захваты, пытается избежать захвата, а не защищать его, ведет себя слишком негативно или пассивно и так далее. Это часто приводит к предупреждениям. Накопление трех предупреждений во время схватки автоматически приводит к дисквалификации виновного борца. В конце шестиминутного периода подсчитывается общее количество очков, и побеждает борец, набравший больше очков. В случае ничьей победителем объявляется борец, набравший максимальное количество очков за один ход.</a:t>
            </a:r>
          </a:p>
          <a:p>
            <a:pPr>
              <a:buClr>
                <a:srgbClr val="1287C3"/>
              </a:buClr>
            </a:pP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727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E135CF-6F3C-ED06-1E39-30F51137D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4367" y="284205"/>
            <a:ext cx="5940981" cy="784654"/>
          </a:xfrm>
          <a:ln w="12700">
            <a:solidFill>
              <a:schemeClr val="tx1"/>
            </a:solidFill>
          </a:ln>
        </p:spPr>
        <p:txBody>
          <a:bodyPr/>
          <a:lstStyle/>
          <a:p>
            <a:r>
              <a:rPr lang="ru-RU" dirty="0">
                <a:latin typeface="Times New Roman"/>
                <a:cs typeface="Times New Roman"/>
              </a:rPr>
              <a:t>Травмы у борцов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CDC1A9-0CC4-B001-7F66-289F68CCA2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27095" y="1287162"/>
            <a:ext cx="1115949" cy="343932"/>
          </a:xfrm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>
                <a:latin typeface="Times New Roman"/>
                <a:cs typeface="Times New Roman"/>
              </a:rPr>
              <a:t>Голова</a:t>
            </a:r>
            <a:endParaRPr lang="ru-RU" dirty="0"/>
          </a:p>
        </p:txBody>
      </p:sp>
      <p:pic>
        <p:nvPicPr>
          <p:cNvPr id="5" name="Объект 4" descr="Изображение выглядит как череп, кость, рентгеновская пленка, млекопитающее&#10;&#10;Автоматически созданное описание">
            <a:extLst>
              <a:ext uri="{FF2B5EF4-FFF2-40B4-BE49-F238E27FC236}">
                <a16:creationId xmlns:a16="http://schemas.microsoft.com/office/drawing/2014/main" id="{2A712F47-A624-6F3B-0433-8B3A4269FAA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922935" y="1596081"/>
            <a:ext cx="1125769" cy="1291282"/>
          </a:xfr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00EA2C8-3DDE-C107-1671-DDB08B342E23}"/>
              </a:ext>
            </a:extLst>
          </p:cNvPr>
          <p:cNvSpPr txBox="1"/>
          <p:nvPr/>
        </p:nvSpPr>
        <p:spPr>
          <a:xfrm>
            <a:off x="9864811" y="1297459"/>
            <a:ext cx="9617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cs typeface="Times New Roman"/>
              </a:rPr>
              <a:t>Шея</a:t>
            </a:r>
            <a:endParaRPr lang="ru-RU">
              <a:latin typeface="Times New Roman"/>
              <a:cs typeface="Times New Roman"/>
            </a:endParaRPr>
          </a:p>
        </p:txBody>
      </p:sp>
      <p:pic>
        <p:nvPicPr>
          <p:cNvPr id="10" name="Рисунок 9" descr="Изображение выглядит как рентгеновская пленка, Медицинская визуализация, рентгенография, Рентгеновское излучение&#10;&#10;Автоматически созданное описание">
            <a:extLst>
              <a:ext uri="{FF2B5EF4-FFF2-40B4-BE49-F238E27FC236}">
                <a16:creationId xmlns:a16="http://schemas.microsoft.com/office/drawing/2014/main" id="{401E5EF5-1A97-7D02-A396-2E55FB511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8287" y="1598397"/>
            <a:ext cx="950700" cy="128252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F6242B-AC36-284B-9353-89F797FCF181}"/>
              </a:ext>
            </a:extLst>
          </p:cNvPr>
          <p:cNvSpPr txBox="1"/>
          <p:nvPr/>
        </p:nvSpPr>
        <p:spPr>
          <a:xfrm>
            <a:off x="3840892" y="1297459"/>
            <a:ext cx="1970901" cy="3657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cs typeface="Times New Roman"/>
              </a:rPr>
              <a:t>Плечо</a:t>
            </a:r>
            <a:endParaRPr lang="ru-RU"/>
          </a:p>
        </p:txBody>
      </p:sp>
      <p:pic>
        <p:nvPicPr>
          <p:cNvPr id="13" name="Рисунок 12" descr="Изображение выглядит как рентгеновская пленка, Медицинская визуализация, рентгенография, радиология&#10;&#10;Автоматически созданное описание">
            <a:extLst>
              <a:ext uri="{FF2B5EF4-FFF2-40B4-BE49-F238E27FC236}">
                <a16:creationId xmlns:a16="http://schemas.microsoft.com/office/drawing/2014/main" id="{EA42EB66-B0F6-DA87-DC73-67AF31DD7B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6773" y="1628003"/>
            <a:ext cx="1975021" cy="128510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4DCECC4-37A2-A0AC-B337-B3036E0CE27C}"/>
              </a:ext>
            </a:extLst>
          </p:cNvPr>
          <p:cNvSpPr txBox="1"/>
          <p:nvPr/>
        </p:nvSpPr>
        <p:spPr>
          <a:xfrm>
            <a:off x="6569675" y="1287162"/>
            <a:ext cx="2506362" cy="3657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/>
              <a:t>Поясница (Спондилез)</a:t>
            </a:r>
          </a:p>
        </p:txBody>
      </p:sp>
      <p:pic>
        <p:nvPicPr>
          <p:cNvPr id="15" name="Рисунок 14" descr="Изображение выглядит как рентгеновская пленка, Медицинская визуализация, радиология, рентгенография&#10;&#10;Автоматически созданное описание">
            <a:extLst>
              <a:ext uri="{FF2B5EF4-FFF2-40B4-BE49-F238E27FC236}">
                <a16:creationId xmlns:a16="http://schemas.microsoft.com/office/drawing/2014/main" id="{71344BE1-C05D-F518-27CB-FF441BDB1E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9676" y="1596081"/>
            <a:ext cx="2502243" cy="128716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8FA77C-226C-11B8-B62F-F17974A4B4E3}"/>
              </a:ext>
            </a:extLst>
          </p:cNvPr>
          <p:cNvSpPr txBox="1"/>
          <p:nvPr/>
        </p:nvSpPr>
        <p:spPr>
          <a:xfrm>
            <a:off x="4129216" y="3212757"/>
            <a:ext cx="15796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cs typeface="Times New Roman"/>
              </a:rPr>
              <a:t>Мениски</a:t>
            </a:r>
            <a:endParaRPr lang="ru-RU"/>
          </a:p>
        </p:txBody>
      </p:sp>
      <p:pic>
        <p:nvPicPr>
          <p:cNvPr id="17" name="Рисунок 16" descr="Изображение выглядит как зарисовка, рисунок, искусство&#10;&#10;Автоматически созданное описание">
            <a:extLst>
              <a:ext uri="{FF2B5EF4-FFF2-40B4-BE49-F238E27FC236}">
                <a16:creationId xmlns:a16="http://schemas.microsoft.com/office/drawing/2014/main" id="{DCD4EC41-CBD4-77BA-E1CD-F7F377A137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3335" y="3574836"/>
            <a:ext cx="1567250" cy="158243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13B754A-E644-29B3-651D-935C32F862EF}"/>
              </a:ext>
            </a:extLst>
          </p:cNvPr>
          <p:cNvSpPr txBox="1"/>
          <p:nvPr/>
        </p:nvSpPr>
        <p:spPr>
          <a:xfrm>
            <a:off x="1081216" y="3212756"/>
            <a:ext cx="268141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cs typeface="Times New Roman"/>
              </a:rPr>
              <a:t>Бурсит надколенников</a:t>
            </a:r>
            <a:endParaRPr lang="ru-RU" dirty="0" err="1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749BBD1B-CDCA-8019-1B4B-FB09AEBC6D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078" y="3573162"/>
            <a:ext cx="2687573" cy="15960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02608BF-B0B8-E894-95E6-48EBB87DB129}"/>
              </a:ext>
            </a:extLst>
          </p:cNvPr>
          <p:cNvSpPr txBox="1"/>
          <p:nvPr/>
        </p:nvSpPr>
        <p:spPr>
          <a:xfrm>
            <a:off x="8186351" y="3212757"/>
            <a:ext cx="317568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cs typeface="Times New Roman"/>
              </a:rPr>
              <a:t>Таранно-малоберцовой связки</a:t>
            </a:r>
            <a:endParaRPr lang="ru-RU" dirty="0"/>
          </a:p>
          <a:p>
            <a:endParaRPr lang="ru-RU" dirty="0"/>
          </a:p>
        </p:txBody>
      </p:sp>
      <p:pic>
        <p:nvPicPr>
          <p:cNvPr id="21" name="Рисунок 20" descr="Изображение выглядит как рентгеновская пленка, Медицинская визуализация, медицинский, Рентгеновское излучение&#10;&#10;Автоматически созданное описание">
            <a:extLst>
              <a:ext uri="{FF2B5EF4-FFF2-40B4-BE49-F238E27FC236}">
                <a16:creationId xmlns:a16="http://schemas.microsoft.com/office/drawing/2014/main" id="{73340A87-5BB4-C38C-6D87-3BD81B5730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6353" y="3538730"/>
            <a:ext cx="3171567" cy="16340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AF1887D-3C72-2695-C053-E8EA99D2C781}"/>
              </a:ext>
            </a:extLst>
          </p:cNvPr>
          <p:cNvSpPr txBox="1"/>
          <p:nvPr/>
        </p:nvSpPr>
        <p:spPr>
          <a:xfrm>
            <a:off x="6013621" y="3212757"/>
            <a:ext cx="189882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/>
                <a:cs typeface="Times New Roman"/>
              </a:rPr>
              <a:t>Ушная гематома</a:t>
            </a:r>
          </a:p>
        </p:txBody>
      </p:sp>
      <p:pic>
        <p:nvPicPr>
          <p:cNvPr id="23" name="Рисунок 22" descr="Изображение выглядит как зарисовка, искусство, рисунок&#10;&#10;Автоматически созданное описание">
            <a:extLst>
              <a:ext uri="{FF2B5EF4-FFF2-40B4-BE49-F238E27FC236}">
                <a16:creationId xmlns:a16="http://schemas.microsoft.com/office/drawing/2014/main" id="{0A0758FF-19C6-2FFA-5DCF-DC9B0A0144A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3622" y="3570589"/>
            <a:ext cx="1894703" cy="1590931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47503677-F468-B75D-5BEC-212BA039D7A0}"/>
              </a:ext>
            </a:extLst>
          </p:cNvPr>
          <p:cNvCxnSpPr/>
          <p:nvPr/>
        </p:nvCxnSpPr>
        <p:spPr>
          <a:xfrm flipH="1">
            <a:off x="3175684" y="1077098"/>
            <a:ext cx="568413" cy="21294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AA5D9F58-E332-6E42-9806-6BBADE2C2737}"/>
              </a:ext>
            </a:extLst>
          </p:cNvPr>
          <p:cNvCxnSpPr/>
          <p:nvPr/>
        </p:nvCxnSpPr>
        <p:spPr>
          <a:xfrm>
            <a:off x="9117998" y="1075810"/>
            <a:ext cx="636373" cy="21500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388CCCA3-6E56-4A08-FC0D-E80805C07BD8}"/>
              </a:ext>
            </a:extLst>
          </p:cNvPr>
          <p:cNvCxnSpPr/>
          <p:nvPr/>
        </p:nvCxnSpPr>
        <p:spPr>
          <a:xfrm flipH="1">
            <a:off x="2740626" y="1084819"/>
            <a:ext cx="846438" cy="2038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B9AE0141-92B3-20FF-F979-B65F2DEF43A1}"/>
              </a:ext>
            </a:extLst>
          </p:cNvPr>
          <p:cNvCxnSpPr/>
          <p:nvPr/>
        </p:nvCxnSpPr>
        <p:spPr>
          <a:xfrm>
            <a:off x="9527316" y="1083532"/>
            <a:ext cx="656968" cy="234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3D9F7F09-DF67-454C-44FB-B8014036A289}"/>
              </a:ext>
            </a:extLst>
          </p:cNvPr>
          <p:cNvCxnSpPr/>
          <p:nvPr/>
        </p:nvCxnSpPr>
        <p:spPr>
          <a:xfrm flipH="1">
            <a:off x="5703673" y="1113137"/>
            <a:ext cx="496329" cy="2119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0FA99E21-4E3D-E945-97B2-1C6703AC19C6}"/>
              </a:ext>
            </a:extLst>
          </p:cNvPr>
          <p:cNvCxnSpPr/>
          <p:nvPr/>
        </p:nvCxnSpPr>
        <p:spPr>
          <a:xfrm>
            <a:off x="6250202" y="1111849"/>
            <a:ext cx="420129" cy="20882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09658A59-B1F0-E896-6316-9D9106F22F23}"/>
              </a:ext>
            </a:extLst>
          </p:cNvPr>
          <p:cNvCxnSpPr/>
          <p:nvPr/>
        </p:nvCxnSpPr>
        <p:spPr>
          <a:xfrm flipH="1">
            <a:off x="4980287" y="1100264"/>
            <a:ext cx="2059" cy="1832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4B1AEEB7-DDD6-50E1-52F1-E9D90047E9C0}"/>
              </a:ext>
            </a:extLst>
          </p:cNvPr>
          <p:cNvCxnSpPr/>
          <p:nvPr/>
        </p:nvCxnSpPr>
        <p:spPr>
          <a:xfrm flipH="1">
            <a:off x="7615108" y="1098978"/>
            <a:ext cx="2060" cy="1935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9706053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5A8547-0450-B9A1-8E88-855A1C218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294503"/>
            <a:ext cx="10018713" cy="753762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/>
                <a:cs typeface="Times New Roman"/>
              </a:rPr>
              <a:t>Рекомендации</a:t>
            </a:r>
            <a:r>
              <a:rPr lang="ru-RU" dirty="0"/>
              <a:t> </a:t>
            </a:r>
            <a:r>
              <a:rPr lang="ru-RU" dirty="0">
                <a:latin typeface="Times New Roman"/>
                <a:cs typeface="Times New Roman"/>
              </a:rPr>
              <a:t>по оказанию первой помощи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F78507-8720-A43C-254E-7F1F0646A0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96468" y="998837"/>
            <a:ext cx="3715859" cy="2677656"/>
          </a:xfr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ru-RU" sz="1400" b="1" dirty="0">
                <a:latin typeface="Times New Roman"/>
                <a:cs typeface="Times New Roman"/>
              </a:rPr>
              <a:t>При травме головы и шеи</a:t>
            </a:r>
            <a:r>
              <a:rPr lang="ru-RU" sz="1400" dirty="0">
                <a:latin typeface="Times New Roman"/>
                <a:cs typeface="Times New Roman"/>
              </a:rPr>
              <a:t>: </a:t>
            </a:r>
          </a:p>
          <a:p>
            <a:pPr marL="0" indent="0" algn="ctr">
              <a:buClr>
                <a:srgbClr val="1287C3"/>
              </a:buClr>
              <a:buNone/>
            </a:pPr>
            <a:r>
              <a:rPr lang="ru-RU" sz="1400" dirty="0">
                <a:latin typeface="Times New Roman"/>
                <a:cs typeface="Times New Roman"/>
              </a:rPr>
              <a:t>После получения травмы необходимо тщательно обследовать спортсмена и доставить его в больницу для оказания нормальной медицинской помощи. Важно не допустить повторного повреждения, поскольку это ведет к образованию остеофитов, результирующему сужению межпозвоночного отверстия и неврологической симптоматике.</a:t>
            </a:r>
          </a:p>
          <a:p>
            <a:pPr>
              <a:buClr>
                <a:srgbClr val="1287C3"/>
              </a:buClr>
            </a:pPr>
            <a:endParaRPr lang="ru-RU" sz="1400" dirty="0">
              <a:latin typeface="Times New Roman"/>
              <a:cs typeface="Times New Roman"/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757FDEA-8679-91C9-E370-EAAACA14C6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51698" y="998838"/>
            <a:ext cx="2650245" cy="2681416"/>
          </a:xfr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ru-RU" sz="1600" b="1" dirty="0">
                <a:latin typeface="Times New Roman"/>
                <a:cs typeface="Times New Roman"/>
              </a:rPr>
              <a:t>Первая помощь при травме ушей:</a:t>
            </a:r>
            <a:endParaRPr lang="ru-RU" sz="1600" b="1" dirty="0"/>
          </a:p>
          <a:p>
            <a:pPr marL="0" indent="0" algn="ctr">
              <a:buClr>
                <a:srgbClr val="1287C3"/>
              </a:buClr>
              <a:buNone/>
            </a:pPr>
            <a:r>
              <a:rPr lang="ru-RU" sz="1400" dirty="0">
                <a:latin typeface="Times New Roman"/>
                <a:cs typeface="Times New Roman"/>
              </a:rPr>
              <a:t>Чтобы избежать травмы рекомендуется использование специального защитного устройства. Если травма произошла, тогда можно использовать наиболее эффективный метод </a:t>
            </a:r>
            <a:r>
              <a:rPr lang="ru-RU" sz="1400" dirty="0" err="1">
                <a:latin typeface="Times New Roman"/>
                <a:cs typeface="Times New Roman"/>
              </a:rPr>
              <a:t>Шулле</a:t>
            </a:r>
            <a:r>
              <a:rPr lang="ru-RU" sz="1400" dirty="0">
                <a:latin typeface="Times New Roman"/>
                <a:cs typeface="Times New Roman"/>
              </a:rPr>
              <a:t>-ром и другие. Спортсмен после операции может выступать уже через 24 часа.</a:t>
            </a:r>
            <a:endParaRPr lang="ru-RU" sz="1400" dirty="0"/>
          </a:p>
          <a:p>
            <a:pPr algn="ctr">
              <a:buClr>
                <a:srgbClr val="1287C3"/>
              </a:buClr>
            </a:pP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4CB79D-FB5A-F3E4-6CB1-AE47348789F3}"/>
              </a:ext>
            </a:extLst>
          </p:cNvPr>
          <p:cNvSpPr txBox="1"/>
          <p:nvPr/>
        </p:nvSpPr>
        <p:spPr>
          <a:xfrm>
            <a:off x="8423189" y="998836"/>
            <a:ext cx="2743199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1400" b="1" dirty="0">
                <a:latin typeface="Times New Roman"/>
                <a:ea typeface="Times New Roman, serif"/>
                <a:cs typeface="Times New Roman, serif"/>
              </a:rPr>
              <a:t>Первая помощь при травме плеча у борцов:</a:t>
            </a:r>
          </a:p>
          <a:p>
            <a:pPr algn="ctr"/>
            <a:r>
              <a:rPr lang="ru-RU" sz="1400" dirty="0">
                <a:latin typeface="Times New Roman"/>
                <a:ea typeface="Times New Roman, serif"/>
                <a:cs typeface="Times New Roman, serif"/>
              </a:rPr>
              <a:t>После получения травмы к суставу должно быть бережное отношение, его нельзя нагружать, нельзя заниматься силовыми видами спорта, избегать травм и падений. По рекомендации врача надо посещать курсы физиопроцедур и массажа травмированной области.</a:t>
            </a:r>
            <a:endParaRPr lang="ru-RU" sz="1400" dirty="0"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F62CC8-BBCF-1132-629F-F418CAA9AC41}"/>
              </a:ext>
            </a:extLst>
          </p:cNvPr>
          <p:cNvSpPr txBox="1"/>
          <p:nvPr/>
        </p:nvSpPr>
        <p:spPr>
          <a:xfrm>
            <a:off x="5354594" y="3851188"/>
            <a:ext cx="2650524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1400" b="1" dirty="0">
                <a:latin typeface="Times New Roman"/>
                <a:cs typeface="Times New Roman"/>
              </a:rPr>
              <a:t>Первая помощь при травме колена:</a:t>
            </a:r>
            <a:endParaRPr lang="ru-RU" sz="1400" b="1">
              <a:latin typeface="Times New Roman"/>
              <a:cs typeface="Times New Roman"/>
            </a:endParaRPr>
          </a:p>
          <a:p>
            <a:pPr algn="ctr"/>
            <a:r>
              <a:rPr lang="ru-RU" sz="1400" dirty="0">
                <a:latin typeface="Times New Roman"/>
                <a:cs typeface="Times New Roman"/>
              </a:rPr>
              <a:t>При получении бурсита надколенника необходимо обеспечить покой суставу, зафиксировав его ортезом или повязкой, а также устранить нагрузку на ногу. После начать медикаментозное лечение.</a:t>
            </a:r>
          </a:p>
          <a:p>
            <a:pPr algn="ctr"/>
            <a:endParaRPr lang="ru-RU" sz="1400" dirty="0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86CBB6-8256-8E1B-4838-5BEDC1339D55}"/>
              </a:ext>
            </a:extLst>
          </p:cNvPr>
          <p:cNvSpPr txBox="1"/>
          <p:nvPr/>
        </p:nvSpPr>
        <p:spPr>
          <a:xfrm>
            <a:off x="8423189" y="3851188"/>
            <a:ext cx="2743199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1400" b="1" i="0" dirty="0">
                <a:solidFill>
                  <a:srgbClr val="000000"/>
                </a:solidFill>
                <a:latin typeface="Times New Roman, serif"/>
                <a:ea typeface="Times New Roman, serif"/>
                <a:cs typeface="Times New Roman, serif"/>
              </a:rPr>
              <a:t>Первая помощь при травме стопы:</a:t>
            </a:r>
            <a:endParaRPr lang="ru-RU" b="1" dirty="0"/>
          </a:p>
          <a:p>
            <a:pPr algn="ctr"/>
            <a:r>
              <a:rPr lang="ru-RU" sz="1400" b="0" i="0" dirty="0">
                <a:solidFill>
                  <a:srgbClr val="000000"/>
                </a:solidFill>
                <a:latin typeface="Times New Roman, serif"/>
                <a:ea typeface="Times New Roman, serif"/>
                <a:cs typeface="Times New Roman, serif"/>
              </a:rPr>
              <a:t>При получении травмы необходимо зафиксировать стопу, максимально обездвижить ее. Делается это с помощью шины (любой жесткой пластинки), которая прикладывается к ступне, и перевязочного материала.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622709-14FE-436B-0307-44256F198DE9}"/>
              </a:ext>
            </a:extLst>
          </p:cNvPr>
          <p:cNvSpPr txBox="1"/>
          <p:nvPr/>
        </p:nvSpPr>
        <p:spPr>
          <a:xfrm>
            <a:off x="1544594" y="3851188"/>
            <a:ext cx="3412523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1400" b="1" dirty="0" smtClean="0">
                <a:latin typeface="Times New Roman"/>
                <a:cs typeface="Times New Roman"/>
              </a:rPr>
              <a:t>При травме </a:t>
            </a:r>
            <a:r>
              <a:rPr lang="ru-RU" sz="1400" b="1" dirty="0">
                <a:latin typeface="Times New Roman"/>
                <a:cs typeface="Times New Roman"/>
              </a:rPr>
              <a:t>мениска:</a:t>
            </a:r>
          </a:p>
          <a:p>
            <a:pPr algn="ctr"/>
            <a:r>
              <a:rPr lang="ru-RU" sz="1400" dirty="0">
                <a:latin typeface="Times New Roman"/>
                <a:cs typeface="Times New Roman"/>
              </a:rPr>
              <a:t>В остром периоде при блокировке сустава под местной анестезией выполняют устранение блокады, при наличии жидкости проводят пункцию сустава. Затем на полусогнутый коленный сустав накладывают гипсовую </a:t>
            </a:r>
            <a:r>
              <a:rPr lang="ru-RU" sz="1400" dirty="0" err="1">
                <a:latin typeface="Times New Roman"/>
                <a:cs typeface="Times New Roman"/>
              </a:rPr>
              <a:t>логнету</a:t>
            </a:r>
            <a:r>
              <a:rPr lang="ru-RU" sz="1400" dirty="0">
                <a:latin typeface="Times New Roman"/>
                <a:cs typeface="Times New Roman"/>
              </a:rPr>
              <a:t> сроком на 3 недели. В последующем пациенту назначают ЛФК и физиолечение.</a:t>
            </a:r>
          </a:p>
          <a:p>
            <a:pPr algn="l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01281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25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3" t="1061" r="9347" b="1780"/>
          <a:stretch/>
        </p:blipFill>
        <p:spPr>
          <a:xfrm>
            <a:off x="6924502" y="1211731"/>
            <a:ext cx="5250710" cy="4780615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41" name="Group 27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29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31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42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34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CD5244-032C-BED9-58E2-5CD4D1C13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484" y="428368"/>
            <a:ext cx="5672571" cy="80524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600" dirty="0">
                <a:latin typeface="Times New Roman"/>
                <a:cs typeface="Times New Roman"/>
              </a:rPr>
              <a:t>Спортивная подготовка</a:t>
            </a:r>
          </a:p>
          <a:p>
            <a:pPr algn="l">
              <a:lnSpc>
                <a:spcPct val="90000"/>
              </a:lnSpc>
            </a:pPr>
            <a:endParaRPr lang="ru-RU" sz="3600" dirty="0"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25DDB2-EA67-9388-7516-A42876D19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4" y="1233617"/>
            <a:ext cx="5364233" cy="460742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Недостаток гибкости, недостаточная мышечная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сила и неразвитая сердечно-сосудистая система — важные факторы, значительно повышающие вероятность получения травм и повреждений. Адекватный уровень гибкости имеет большое значение, поскольку позволяет увеличить амплитуду движений в суставах, тем самым снижая риск повреждения мышц и связок.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249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114606-C8DB-2076-9121-11EAB1E34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438665"/>
            <a:ext cx="10018713" cy="815545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/>
                <a:cs typeface="Times New Roman"/>
              </a:rPr>
              <a:t>Практическая часть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19100C-9398-3C4F-A834-9A3FE6A8E3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84312" y="1328351"/>
            <a:ext cx="9563303" cy="4931133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ru-RU" sz="3300" dirty="0">
                <a:latin typeface="Times New Roman"/>
                <a:cs typeface="Times New Roman"/>
              </a:rPr>
              <a:t>Для решения задач в проекте использовались следующие методы:</a:t>
            </a:r>
          </a:p>
          <a:p>
            <a:pPr>
              <a:buClr>
                <a:srgbClr val="1287C3"/>
              </a:buClr>
            </a:pPr>
            <a:r>
              <a:rPr lang="ru-RU" sz="3300" dirty="0">
                <a:latin typeface="Times New Roman"/>
                <a:cs typeface="Times New Roman"/>
              </a:rPr>
              <a:t>Анализ получения травм у борцов. </a:t>
            </a:r>
          </a:p>
          <a:p>
            <a:pPr>
              <a:buClr>
                <a:srgbClr val="1287C3"/>
              </a:buClr>
            </a:pPr>
            <a:r>
              <a:rPr lang="ru-RU" sz="3300" dirty="0">
                <a:latin typeface="Times New Roman"/>
                <a:cs typeface="Times New Roman"/>
              </a:rPr>
              <a:t>Обработка материала по теме оказание первой помощи при травмах. </a:t>
            </a:r>
          </a:p>
          <a:p>
            <a:pPr>
              <a:buClr>
                <a:srgbClr val="1287C3"/>
              </a:buClr>
            </a:pPr>
            <a:r>
              <a:rPr lang="ru-RU" sz="3300" dirty="0">
                <a:latin typeface="Times New Roman"/>
                <a:cs typeface="Times New Roman"/>
              </a:rPr>
              <a:t>Опрос спортсменов в зале ЦСКА (Красноярская 53)</a:t>
            </a:r>
          </a:p>
          <a:p>
            <a:pPr>
              <a:buClr>
                <a:srgbClr val="1287C3"/>
              </a:buClr>
            </a:pPr>
            <a:r>
              <a:rPr lang="ru-RU" sz="3300" dirty="0">
                <a:latin typeface="Times New Roman"/>
                <a:cs typeface="Times New Roman"/>
              </a:rPr>
              <a:t>Составление рекомендаций по оказанию первой помощи при получении травмы. </a:t>
            </a:r>
          </a:p>
          <a:p>
            <a:pPr>
              <a:buClr>
                <a:srgbClr val="1287C3"/>
              </a:buClr>
            </a:pPr>
            <a:r>
              <a:rPr lang="ru-RU" sz="3300" dirty="0">
                <a:latin typeface="Times New Roman"/>
                <a:cs typeface="Times New Roman"/>
              </a:rPr>
              <a:t>Составление рекомендаций для снижения риска травм у спортсменов.</a:t>
            </a:r>
          </a:p>
          <a:p>
            <a:pPr>
              <a:buClr>
                <a:srgbClr val="1287C3"/>
              </a:buClr>
            </a:pPr>
            <a:r>
              <a:rPr lang="ru-RU" sz="3300" dirty="0">
                <a:latin typeface="Times New Roman"/>
                <a:cs typeface="Times New Roman"/>
              </a:rPr>
              <a:t>Разработка продукта (буклета), совместно с тренером спортивного зала (</a:t>
            </a:r>
            <a:r>
              <a:rPr lang="ru-RU" sz="3300" dirty="0" err="1">
                <a:latin typeface="Times New Roman"/>
                <a:cs typeface="Times New Roman"/>
              </a:rPr>
              <a:t>Номогоев</a:t>
            </a:r>
            <a:r>
              <a:rPr lang="ru-RU" sz="3300" dirty="0">
                <a:latin typeface="Times New Roman"/>
                <a:cs typeface="Times New Roman"/>
              </a:rPr>
              <a:t> Валерий Владимирович)</a:t>
            </a:r>
          </a:p>
          <a:p>
            <a:pPr>
              <a:buClr>
                <a:srgbClr val="1287C3"/>
              </a:buClr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26083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9647F4-8DA3-9120-FFCF-3E2C3FFEC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1172" y="140530"/>
            <a:ext cx="10018713" cy="970004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/>
                <a:cs typeface="Times New Roman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EE9B18-0713-5E3C-186C-2C075F53FE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31172" y="1110535"/>
            <a:ext cx="10256523" cy="535676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работы над проектом «Рекомендации по оказанию первой помощи при травмах в вольной борьбе» 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были выполнены 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 поставленные 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Я изучил теорию травм, полученных при занятиях Вольной Борьбой.</a:t>
            </a:r>
          </a:p>
          <a:p>
            <a:pPr>
              <a:buClr>
                <a:srgbClr val="1287C3"/>
              </a:buClr>
            </a:pP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Составил рекомендаций первой медицинской помощи при получении травмы у спортсмена.</a:t>
            </a:r>
          </a:p>
          <a:p>
            <a:pPr>
              <a:buClr>
                <a:srgbClr val="1287C3"/>
              </a:buClr>
            </a:pP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Составил способ снизить риск травмы у спортсмена.</a:t>
            </a:r>
          </a:p>
          <a:p>
            <a:pPr>
              <a:buClr>
                <a:srgbClr val="1287C3"/>
              </a:buClr>
            </a:pP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Создал продукт (буклет) с рекомендациями по оказанию первой помощи при получении травм во время занятий Вольной Борьбой.</a:t>
            </a:r>
          </a:p>
          <a:p>
            <a:pPr marL="0" indent="0">
              <a:buClr>
                <a:srgbClr val="1287C3"/>
              </a:buClr>
              <a:buNone/>
            </a:pP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Поэтому считаю, что цель по выполнению данной работы достигнута. Хочу сказать, что данная работа помогла мне в изучении оказания первой помощи, правил в вольной борьбе, истории вольной борьбы. Я научился писать проект, а также создавать продукт. Мне понравилось работать над данным проектом. Надеюсь, что мой продукт в будущем поможет тренерам и спортсменам для оказание первой помощи и снижению риска травм.</a:t>
            </a:r>
          </a:p>
          <a:p>
            <a:pPr>
              <a:buClr>
                <a:srgbClr val="1287C3"/>
              </a:buClr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5782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20504" cy="793865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литературы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2032951" y="1479665"/>
            <a:ext cx="8923223" cy="3408219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Интернет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источники:</a:t>
            </a:r>
          </a:p>
          <a:p>
            <a:pPr lvl="0"/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Травмы в борьбе | Травмы в классической греко-римской и вольной борьбе | Спортивные травмы | Спортивная медицина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Виды повреждений (травм) у борцов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Вольная борьба — </a:t>
            </a:r>
            <a:r>
              <a:rPr lang="ru-RU" u="sng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Википедия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://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www.sportmedicine.ru/wrestling.php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https://medaboutme.ru/articles/samye_rasprostranennye_travmy_stopy_i_ikh_lechenie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/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hlinkClick r:id="rId7"/>
              </a:rPr>
              <a:t>https://</a:t>
            </a:r>
            <a:r>
              <a:rPr lang="en-US" dirty="0" smtClean="0">
                <a:hlinkClick r:id="rId7"/>
              </a:rPr>
              <a:t>www.krasotaimedicina.ru/symptom/joint-pain/shoulder</a:t>
            </a:r>
            <a:endParaRPr lang="en-US" dirty="0" smtClean="0"/>
          </a:p>
          <a:p>
            <a:r>
              <a:rPr lang="en-US" dirty="0">
                <a:hlinkClick r:id="rId8"/>
              </a:rPr>
              <a:t>https://www.probolezny.ru/bursit-kolennogo-sustava</a:t>
            </a:r>
            <a:r>
              <a:rPr lang="en-US" dirty="0" smtClean="0">
                <a:hlinkClick r:id="rId8"/>
              </a:rPr>
              <a:t>/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126190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18239" y="311727"/>
            <a:ext cx="8021033" cy="926869"/>
          </a:xfrm>
        </p:spPr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9609514" y="5853545"/>
            <a:ext cx="1305097" cy="48906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1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Диаграмма 4"/>
          <p:cNvGraphicFramePr/>
          <p:nvPr>
            <p:extLst>
              <p:ext uri="{D42A27DB-BD31-4B8C-83A1-F6EECF244321}">
                <p14:modId xmlns:p14="http://schemas.microsoft.com/office/powerpoint/2010/main" val="3145065188"/>
              </p:ext>
            </p:extLst>
          </p:nvPr>
        </p:nvGraphicFramePr>
        <p:xfrm>
          <a:off x="2049799" y="1162396"/>
          <a:ext cx="8557912" cy="46911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616036" y="17207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7187969" y="2691136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91804" y="4513009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27%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80015" y="3256803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15%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83945" y="2325160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0%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03290" y="1904599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6%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94933" y="1738837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87376" y="1693701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3%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6690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07" b="2466"/>
          <a:stretch/>
        </p:blipFill>
        <p:spPr bwMode="auto">
          <a:xfrm>
            <a:off x="4391026" y="190499"/>
            <a:ext cx="4387848" cy="62388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Объект 3"/>
          <p:cNvSpPr>
            <a:spLocks noGrp="1"/>
          </p:cNvSpPr>
          <p:nvPr>
            <p:ph sz="half" idx="2"/>
          </p:nvPr>
        </p:nvSpPr>
        <p:spPr>
          <a:xfrm>
            <a:off x="9609514" y="5777344"/>
            <a:ext cx="1787236" cy="5652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7963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76740" y="2381597"/>
            <a:ext cx="10018713" cy="1752599"/>
          </a:xfrm>
        </p:spPr>
        <p:txBody>
          <a:bodyPr>
            <a:normAutofit/>
          </a:bodyPr>
          <a:lstStyle/>
          <a:p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295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835</Words>
  <Application>Microsoft Office PowerPoint</Application>
  <PresentationFormat>Широкоэкранный</PresentationFormat>
  <Paragraphs>86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Corbel</vt:lpstr>
      <vt:lpstr>Times New Roman</vt:lpstr>
      <vt:lpstr>Times New Roman, serif</vt:lpstr>
      <vt:lpstr>Parallax</vt:lpstr>
      <vt:lpstr>Рекомендации по оказанию первой помощи при получении травм во время занятий вольной борьбой </vt:lpstr>
      <vt:lpstr>Введение</vt:lpstr>
      <vt:lpstr>Презентация PowerPoint</vt:lpstr>
      <vt:lpstr>История Вольной Борьбы</vt:lpstr>
      <vt:lpstr>Правила в Вольной Борьбе</vt:lpstr>
      <vt:lpstr>Травмы у борцов</vt:lpstr>
      <vt:lpstr>Рекомендации по оказанию первой помощи</vt:lpstr>
      <vt:lpstr>Спортивная подготовка </vt:lpstr>
      <vt:lpstr>Практическая часть</vt:lpstr>
      <vt:lpstr>Заключение</vt:lpstr>
      <vt:lpstr> Список литературы </vt:lpstr>
      <vt:lpstr>Приложение</vt:lpstr>
      <vt:lpstr>Презентация PowerPoint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comp-8</dc:creator>
  <cp:lastModifiedBy>comp-8</cp:lastModifiedBy>
  <cp:revision>557</cp:revision>
  <dcterms:created xsi:type="dcterms:W3CDTF">2024-03-29T12:13:17Z</dcterms:created>
  <dcterms:modified xsi:type="dcterms:W3CDTF">2025-03-27T06:41:32Z</dcterms:modified>
</cp:coreProperties>
</file>