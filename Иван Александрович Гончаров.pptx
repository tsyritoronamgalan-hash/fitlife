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98" d="100"/>
          <a:sy n="98" d="100"/>
        </p:scale>
        <p:origin x="1080" y="6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8FA3FFF5-22A3-4FBD-9555-B86DF934C214}" type="datetimeFigureOut">
              <a:rPr lang="ru-RU" smtClean="0"/>
              <a:t>25.09.2025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A3479F8-8A55-4FE7-AEA4-221CB1289BFF}" type="slidenum">
              <a:rPr lang="ru-RU" smtClean="0"/>
              <a:t>‹#›</a:t>
            </a:fld>
            <a:endParaRPr lang="ru-RU"/>
          </a:p>
        </p:txBody>
      </p:sp>
    </p:spTree>
    <p:extLst>
      <p:ext uri="{BB962C8B-B14F-4D97-AF65-F5344CB8AC3E}">
        <p14:creationId xmlns:p14="http://schemas.microsoft.com/office/powerpoint/2010/main" val="632475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8FA3FFF5-22A3-4FBD-9555-B86DF934C214}" type="datetimeFigureOut">
              <a:rPr lang="ru-RU" smtClean="0"/>
              <a:t>25.09.2025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A3479F8-8A55-4FE7-AEA4-221CB1289BFF}" type="slidenum">
              <a:rPr lang="ru-RU" smtClean="0"/>
              <a:t>‹#›</a:t>
            </a:fld>
            <a:endParaRPr lang="ru-RU"/>
          </a:p>
        </p:txBody>
      </p:sp>
    </p:spTree>
    <p:extLst>
      <p:ext uri="{BB962C8B-B14F-4D97-AF65-F5344CB8AC3E}">
        <p14:creationId xmlns:p14="http://schemas.microsoft.com/office/powerpoint/2010/main" val="4156614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8FA3FFF5-22A3-4FBD-9555-B86DF934C214}" type="datetimeFigureOut">
              <a:rPr lang="ru-RU" smtClean="0"/>
              <a:t>25.09.2025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A3479F8-8A55-4FE7-AEA4-221CB1289BFF}" type="slidenum">
              <a:rPr lang="ru-RU" smtClean="0"/>
              <a:t>‹#›</a:t>
            </a:fld>
            <a:endParaRPr lang="ru-RU"/>
          </a:p>
        </p:txBody>
      </p:sp>
    </p:spTree>
    <p:extLst>
      <p:ext uri="{BB962C8B-B14F-4D97-AF65-F5344CB8AC3E}">
        <p14:creationId xmlns:p14="http://schemas.microsoft.com/office/powerpoint/2010/main" val="3031452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8FA3FFF5-22A3-4FBD-9555-B86DF934C214}" type="datetimeFigureOut">
              <a:rPr lang="ru-RU" smtClean="0"/>
              <a:t>25.09.2025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A3479F8-8A55-4FE7-AEA4-221CB1289BFF}" type="slidenum">
              <a:rPr lang="ru-RU" smtClean="0"/>
              <a:t>‹#›</a:t>
            </a:fld>
            <a:endParaRPr lang="ru-RU"/>
          </a:p>
        </p:txBody>
      </p:sp>
    </p:spTree>
    <p:extLst>
      <p:ext uri="{BB962C8B-B14F-4D97-AF65-F5344CB8AC3E}">
        <p14:creationId xmlns:p14="http://schemas.microsoft.com/office/powerpoint/2010/main" val="4249769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8FA3FFF5-22A3-4FBD-9555-B86DF934C214}" type="datetimeFigureOut">
              <a:rPr lang="ru-RU" smtClean="0"/>
              <a:t>25.09.2025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5A3479F8-8A55-4FE7-AEA4-221CB1289BFF}" type="slidenum">
              <a:rPr lang="ru-RU" smtClean="0"/>
              <a:t>‹#›</a:t>
            </a:fld>
            <a:endParaRPr lang="ru-RU"/>
          </a:p>
        </p:txBody>
      </p:sp>
    </p:spTree>
    <p:extLst>
      <p:ext uri="{BB962C8B-B14F-4D97-AF65-F5344CB8AC3E}">
        <p14:creationId xmlns:p14="http://schemas.microsoft.com/office/powerpoint/2010/main" val="1503158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8FA3FFF5-22A3-4FBD-9555-B86DF934C214}" type="datetimeFigureOut">
              <a:rPr lang="ru-RU" smtClean="0"/>
              <a:t>25.09.2025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5A3479F8-8A55-4FE7-AEA4-221CB1289BFF}" type="slidenum">
              <a:rPr lang="ru-RU" smtClean="0"/>
              <a:t>‹#›</a:t>
            </a:fld>
            <a:endParaRPr lang="ru-RU"/>
          </a:p>
        </p:txBody>
      </p:sp>
    </p:spTree>
    <p:extLst>
      <p:ext uri="{BB962C8B-B14F-4D97-AF65-F5344CB8AC3E}">
        <p14:creationId xmlns:p14="http://schemas.microsoft.com/office/powerpoint/2010/main" val="1851151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8FA3FFF5-22A3-4FBD-9555-B86DF934C214}" type="datetimeFigureOut">
              <a:rPr lang="ru-RU" smtClean="0"/>
              <a:t>25.09.2025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5A3479F8-8A55-4FE7-AEA4-221CB1289BFF}" type="slidenum">
              <a:rPr lang="ru-RU" smtClean="0"/>
              <a:t>‹#›</a:t>
            </a:fld>
            <a:endParaRPr lang="ru-RU"/>
          </a:p>
        </p:txBody>
      </p:sp>
    </p:spTree>
    <p:extLst>
      <p:ext uri="{BB962C8B-B14F-4D97-AF65-F5344CB8AC3E}">
        <p14:creationId xmlns:p14="http://schemas.microsoft.com/office/powerpoint/2010/main" val="3381355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8FA3FFF5-22A3-4FBD-9555-B86DF934C214}" type="datetimeFigureOut">
              <a:rPr lang="ru-RU" smtClean="0"/>
              <a:t>25.09.2025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A3479F8-8A55-4FE7-AEA4-221CB1289BFF}" type="slidenum">
              <a:rPr lang="ru-RU" smtClean="0"/>
              <a:t>‹#›</a:t>
            </a:fld>
            <a:endParaRPr lang="ru-RU"/>
          </a:p>
        </p:txBody>
      </p:sp>
    </p:spTree>
    <p:extLst>
      <p:ext uri="{BB962C8B-B14F-4D97-AF65-F5344CB8AC3E}">
        <p14:creationId xmlns:p14="http://schemas.microsoft.com/office/powerpoint/2010/main" val="3390003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8FA3FFF5-22A3-4FBD-9555-B86DF934C214}" type="datetimeFigureOut">
              <a:rPr lang="ru-RU" smtClean="0"/>
              <a:t>25.09.2025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A3479F8-8A55-4FE7-AEA4-221CB1289BFF}" type="slidenum">
              <a:rPr lang="ru-RU" smtClean="0"/>
              <a:t>‹#›</a:t>
            </a:fld>
            <a:endParaRPr lang="ru-RU"/>
          </a:p>
        </p:txBody>
      </p:sp>
    </p:spTree>
    <p:extLst>
      <p:ext uri="{BB962C8B-B14F-4D97-AF65-F5344CB8AC3E}">
        <p14:creationId xmlns:p14="http://schemas.microsoft.com/office/powerpoint/2010/main" val="1375410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8FA3FFF5-22A3-4FBD-9555-B86DF934C214}" type="datetimeFigureOut">
              <a:rPr lang="ru-RU" smtClean="0"/>
              <a:t>25.09.2025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A3479F8-8A55-4FE7-AEA4-221CB1289BFF}" type="slidenum">
              <a:rPr lang="ru-RU" smtClean="0"/>
              <a:t>‹#›</a:t>
            </a:fld>
            <a:endParaRPr lang="ru-RU"/>
          </a:p>
        </p:txBody>
      </p:sp>
    </p:spTree>
    <p:extLst>
      <p:ext uri="{BB962C8B-B14F-4D97-AF65-F5344CB8AC3E}">
        <p14:creationId xmlns:p14="http://schemas.microsoft.com/office/powerpoint/2010/main" val="2741883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8FA3FFF5-22A3-4FBD-9555-B86DF934C214}" type="datetimeFigureOut">
              <a:rPr lang="ru-RU" smtClean="0"/>
              <a:t>25.09.2025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A3479F8-8A55-4FE7-AEA4-221CB1289BFF}" type="slidenum">
              <a:rPr lang="ru-RU" smtClean="0"/>
              <a:t>‹#›</a:t>
            </a:fld>
            <a:endParaRPr lang="ru-RU"/>
          </a:p>
        </p:txBody>
      </p:sp>
    </p:spTree>
    <p:extLst>
      <p:ext uri="{BB962C8B-B14F-4D97-AF65-F5344CB8AC3E}">
        <p14:creationId xmlns:p14="http://schemas.microsoft.com/office/powerpoint/2010/main" val="2821807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A3FFF5-22A3-4FBD-9555-B86DF934C214}" type="datetimeFigureOut">
              <a:rPr lang="ru-RU" smtClean="0"/>
              <a:t>25.09.2025</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3479F8-8A55-4FE7-AEA4-221CB1289BFF}" type="slidenum">
              <a:rPr lang="ru-RU" smtClean="0"/>
              <a:t>‹#›</a:t>
            </a:fld>
            <a:endParaRPr lang="ru-RU"/>
          </a:p>
        </p:txBody>
      </p:sp>
    </p:spTree>
    <p:extLst>
      <p:ext uri="{BB962C8B-B14F-4D97-AF65-F5344CB8AC3E}">
        <p14:creationId xmlns:p14="http://schemas.microsoft.com/office/powerpoint/2010/main" val="2849348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Рисунок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9112055">
            <a:off x="-4355654" y="-3560452"/>
            <a:ext cx="9525000" cy="5486400"/>
          </a:xfrm>
          <a:prstGeom prst="rect">
            <a:avLst/>
          </a:prstGeom>
        </p:spPr>
      </p:pic>
      <p:pic>
        <p:nvPicPr>
          <p:cNvPr id="15" name="Рисунок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1935853">
            <a:off x="5097341" y="-3770567"/>
            <a:ext cx="9525000" cy="5486400"/>
          </a:xfrm>
          <a:prstGeom prst="rect">
            <a:avLst/>
          </a:prstGeom>
        </p:spPr>
      </p:pic>
      <p:pic>
        <p:nvPicPr>
          <p:cNvPr id="16" name="Рисунок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8654489">
            <a:off x="6857734" y="3422956"/>
            <a:ext cx="9525000" cy="5486400"/>
          </a:xfrm>
          <a:prstGeom prst="rect">
            <a:avLst/>
          </a:prstGeom>
        </p:spPr>
      </p:pic>
      <p:sp>
        <p:nvSpPr>
          <p:cNvPr id="12" name="TextBox 11"/>
          <p:cNvSpPr txBox="1"/>
          <p:nvPr/>
        </p:nvSpPr>
        <p:spPr>
          <a:xfrm>
            <a:off x="6428317" y="3889939"/>
            <a:ext cx="5547785" cy="1107996"/>
          </a:xfrm>
          <a:prstGeom prst="rect">
            <a:avLst/>
          </a:prstGeom>
          <a:noFill/>
        </p:spPr>
        <p:txBody>
          <a:bodyPr wrap="square" rtlCol="0">
            <a:spAutoFit/>
          </a:bodyPr>
          <a:lstStyle/>
          <a:p>
            <a:r>
              <a:rPr lang="ru-RU" sz="2400" i="1" dirty="0" smtClean="0">
                <a:latin typeface="Liberation Serif" panose="02020603050405020304" pitchFamily="18" charset="0"/>
                <a:ea typeface="Liberation Serif" panose="02020603050405020304" pitchFamily="18" charset="0"/>
                <a:cs typeface="Liberation Serif" panose="02020603050405020304" pitchFamily="18" charset="0"/>
              </a:rPr>
              <a:t>«</a:t>
            </a:r>
            <a:r>
              <a:rPr lang="ru-RU" i="1" dirty="0">
                <a:latin typeface="Liberation Serif" panose="02020603050405020304" pitchFamily="18" charset="0"/>
                <a:ea typeface="Liberation Serif" panose="02020603050405020304" pitchFamily="18" charset="0"/>
                <a:cs typeface="Liberation Serif" panose="02020603050405020304" pitchFamily="18" charset="0"/>
              </a:rPr>
              <a:t>Автор, проникший во все тайны тёмного царства и выставивший их на всеобщий суд и осуждение</a:t>
            </a:r>
            <a:r>
              <a:rPr lang="ru-RU" sz="2400" i="1" dirty="0" smtClean="0">
                <a:latin typeface="Liberation Serif" panose="02020603050405020304" pitchFamily="18" charset="0"/>
                <a:ea typeface="Liberation Serif" panose="02020603050405020304" pitchFamily="18" charset="0"/>
                <a:cs typeface="Liberation Serif" panose="02020603050405020304" pitchFamily="18" charset="0"/>
              </a:rPr>
              <a:t>»</a:t>
            </a:r>
            <a:endParaRPr lang="ru-RU" sz="2400" i="1" dirty="0">
              <a:latin typeface="Liberation Serif" panose="02020603050405020304" pitchFamily="18" charset="0"/>
              <a:ea typeface="Liberation Serif" panose="02020603050405020304" pitchFamily="18" charset="0"/>
              <a:cs typeface="Liberation Serif" panose="02020603050405020304" pitchFamily="18" charset="0"/>
            </a:endParaRPr>
          </a:p>
          <a:p>
            <a:endParaRPr lang="ru-RU" dirty="0"/>
          </a:p>
        </p:txBody>
      </p:sp>
      <p:sp>
        <p:nvSpPr>
          <p:cNvPr id="13" name="TextBox 12"/>
          <p:cNvSpPr txBox="1"/>
          <p:nvPr/>
        </p:nvSpPr>
        <p:spPr>
          <a:xfrm>
            <a:off x="9626601" y="4664984"/>
            <a:ext cx="2065866" cy="400110"/>
          </a:xfrm>
          <a:prstGeom prst="rect">
            <a:avLst/>
          </a:prstGeom>
          <a:noFill/>
        </p:spPr>
        <p:txBody>
          <a:bodyPr wrap="square" rtlCol="0">
            <a:spAutoFit/>
          </a:bodyPr>
          <a:lstStyle/>
          <a:p>
            <a:r>
              <a:rPr lang="ru-RU" sz="2000" b="1" dirty="0" smtClean="0"/>
              <a:t>- </a:t>
            </a:r>
            <a:r>
              <a:rPr lang="ru-RU" sz="2000" b="1" dirty="0" smtClean="0"/>
              <a:t>С.В. Максимов</a:t>
            </a:r>
            <a:endParaRPr lang="ru-RU" sz="2000" b="1" dirty="0"/>
          </a:p>
        </p:txBody>
      </p:sp>
      <p:sp>
        <p:nvSpPr>
          <p:cNvPr id="2" name="Заголовок 1"/>
          <p:cNvSpPr>
            <a:spLocks noGrp="1"/>
          </p:cNvSpPr>
          <p:nvPr>
            <p:ph type="ctrTitle"/>
          </p:nvPr>
        </p:nvSpPr>
        <p:spPr>
          <a:xfrm>
            <a:off x="6121399" y="1083733"/>
            <a:ext cx="5977468" cy="1671635"/>
          </a:xfrm>
        </p:spPr>
        <p:txBody>
          <a:bodyPr>
            <a:normAutofit fontScale="90000"/>
          </a:bodyPr>
          <a:lstStyle/>
          <a:p>
            <a:r>
              <a:rPr lang="ru-RU" sz="4800" b="1" dirty="0" smtClean="0"/>
              <a:t>Александр Николаевич Островский</a:t>
            </a:r>
            <a:r>
              <a:rPr lang="ru-RU" sz="4800" b="1" dirty="0"/>
              <a:t> </a:t>
            </a:r>
          </a:p>
        </p:txBody>
      </p:sp>
      <p:sp>
        <p:nvSpPr>
          <p:cNvPr id="11" name="Рамка 10"/>
          <p:cNvSpPr/>
          <p:nvPr/>
        </p:nvSpPr>
        <p:spPr>
          <a:xfrm rot="2621358">
            <a:off x="6271701" y="2709437"/>
            <a:ext cx="112287" cy="108798"/>
          </a:xfrm>
          <a:prstGeom prst="frame">
            <a:avLst>
              <a:gd name="adj1" fmla="val 1144"/>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n w="28575">
                <a:solidFill>
                  <a:schemeClr val="tx1"/>
                </a:solidFill>
              </a:ln>
              <a:solidFill>
                <a:schemeClr val="tx1"/>
              </a:solidFill>
            </a:endParaRPr>
          </a:p>
        </p:txBody>
      </p:sp>
      <p:cxnSp>
        <p:nvCxnSpPr>
          <p:cNvPr id="9" name="Прямая соединительная линия 8"/>
          <p:cNvCxnSpPr/>
          <p:nvPr/>
        </p:nvCxnSpPr>
        <p:spPr>
          <a:xfrm>
            <a:off x="6400799" y="2755368"/>
            <a:ext cx="5291667" cy="84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Рамка 9"/>
          <p:cNvSpPr/>
          <p:nvPr/>
        </p:nvSpPr>
        <p:spPr>
          <a:xfrm rot="2621358">
            <a:off x="11715126" y="2709436"/>
            <a:ext cx="112287" cy="108798"/>
          </a:xfrm>
          <a:prstGeom prst="frame">
            <a:avLst>
              <a:gd name="adj1" fmla="val 1144"/>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n w="28575">
                <a:solidFill>
                  <a:schemeClr val="tx1"/>
                </a:solidFill>
              </a:ln>
              <a:solidFill>
                <a:schemeClr val="tx1"/>
              </a:solidFill>
            </a:endParaRPr>
          </a:p>
        </p:txBody>
      </p:sp>
      <p:sp>
        <p:nvSpPr>
          <p:cNvPr id="3" name="Подзаголовок 2"/>
          <p:cNvSpPr>
            <a:spLocks noGrp="1"/>
          </p:cNvSpPr>
          <p:nvPr>
            <p:ph type="subTitle" idx="1"/>
          </p:nvPr>
        </p:nvSpPr>
        <p:spPr>
          <a:xfrm>
            <a:off x="6652682" y="2820252"/>
            <a:ext cx="4914902" cy="377298"/>
          </a:xfrm>
        </p:spPr>
        <p:txBody>
          <a:bodyPr>
            <a:noAutofit/>
          </a:bodyPr>
          <a:lstStyle/>
          <a:p>
            <a:r>
              <a:rPr lang="ru-RU" sz="2000" b="1" dirty="0" smtClean="0"/>
              <a:t>1823 – 1886</a:t>
            </a:r>
            <a:endParaRPr lang="ru-RU" sz="2000" b="1" dirty="0"/>
          </a:p>
        </p:txBody>
      </p:sp>
      <p:pic>
        <p:nvPicPr>
          <p:cNvPr id="6" name="Рисунок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491" y="132828"/>
            <a:ext cx="6152327" cy="6298778"/>
          </a:xfrm>
          <a:prstGeom prst="rect">
            <a:avLst/>
          </a:prstGeom>
        </p:spPr>
      </p:pic>
    </p:spTree>
    <p:extLst>
      <p:ext uri="{BB962C8B-B14F-4D97-AF65-F5344CB8AC3E}">
        <p14:creationId xmlns:p14="http://schemas.microsoft.com/office/powerpoint/2010/main" val="42192852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034688" y="5511338"/>
            <a:ext cx="4473133" cy="461665"/>
          </a:xfrm>
          <a:prstGeom prst="rect">
            <a:avLst/>
          </a:prstGeom>
          <a:noFill/>
        </p:spPr>
        <p:txBody>
          <a:bodyPr wrap="square" rtlCol="0">
            <a:spAutoFit/>
          </a:bodyPr>
          <a:lstStyle/>
          <a:p>
            <a:pPr algn="ctr"/>
            <a:r>
              <a:rPr lang="ru-RU" sz="2400" dirty="0"/>
              <a:t>Николай Фёдорович Островский</a:t>
            </a:r>
            <a:endParaRPr lang="ru-RU" sz="3200" dirty="0"/>
          </a:p>
        </p:txBody>
      </p:sp>
      <p:sp>
        <p:nvSpPr>
          <p:cNvPr id="8" name="TextBox 7"/>
          <p:cNvSpPr txBox="1"/>
          <p:nvPr/>
        </p:nvSpPr>
        <p:spPr>
          <a:xfrm>
            <a:off x="7590905" y="5853669"/>
            <a:ext cx="3356958" cy="461665"/>
          </a:xfrm>
          <a:prstGeom prst="rect">
            <a:avLst/>
          </a:prstGeom>
          <a:noFill/>
        </p:spPr>
        <p:txBody>
          <a:bodyPr wrap="square" rtlCol="0">
            <a:spAutoFit/>
          </a:bodyPr>
          <a:lstStyle/>
          <a:p>
            <a:pPr algn="ctr"/>
            <a:r>
              <a:rPr lang="ru-RU" sz="2400" dirty="0" smtClean="0"/>
              <a:t>Отец писателя</a:t>
            </a:r>
            <a:endParaRPr lang="ru-RU" sz="2400" dirty="0"/>
          </a:p>
        </p:txBody>
      </p:sp>
      <p:sp>
        <p:nvSpPr>
          <p:cNvPr id="9" name="TextBox 8"/>
          <p:cNvSpPr txBox="1"/>
          <p:nvPr/>
        </p:nvSpPr>
        <p:spPr>
          <a:xfrm>
            <a:off x="720192" y="5511338"/>
            <a:ext cx="4380808" cy="461665"/>
          </a:xfrm>
          <a:prstGeom prst="rect">
            <a:avLst/>
          </a:prstGeom>
          <a:noFill/>
        </p:spPr>
        <p:txBody>
          <a:bodyPr wrap="square" rtlCol="0">
            <a:spAutoFit/>
          </a:bodyPr>
          <a:lstStyle/>
          <a:p>
            <a:pPr algn="ctr"/>
            <a:r>
              <a:rPr lang="ru-RU" sz="2400" dirty="0"/>
              <a:t>Любовь Ивановна Островская</a:t>
            </a:r>
            <a:endParaRPr lang="ru-RU" sz="4000" dirty="0"/>
          </a:p>
        </p:txBody>
      </p:sp>
      <p:sp>
        <p:nvSpPr>
          <p:cNvPr id="10" name="TextBox 9"/>
          <p:cNvSpPr txBox="1"/>
          <p:nvPr/>
        </p:nvSpPr>
        <p:spPr>
          <a:xfrm>
            <a:off x="1860421" y="5838553"/>
            <a:ext cx="2096438" cy="465098"/>
          </a:xfrm>
          <a:prstGeom prst="rect">
            <a:avLst/>
          </a:prstGeom>
          <a:noFill/>
        </p:spPr>
        <p:txBody>
          <a:bodyPr wrap="square" rtlCol="0">
            <a:spAutoFit/>
          </a:bodyPr>
          <a:lstStyle/>
          <a:p>
            <a:r>
              <a:rPr lang="ru-RU" sz="2400" dirty="0" smtClean="0"/>
              <a:t>Мать писателя</a:t>
            </a:r>
            <a:endParaRPr lang="ru-RU" sz="2400" dirty="0"/>
          </a:p>
        </p:txBody>
      </p:sp>
      <p:pic>
        <p:nvPicPr>
          <p:cNvPr id="11" name="Рисунок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1935853">
            <a:off x="5097341" y="-3770567"/>
            <a:ext cx="9525000" cy="5486400"/>
          </a:xfrm>
          <a:prstGeom prst="rect">
            <a:avLst/>
          </a:prstGeom>
        </p:spPr>
      </p:pic>
      <p:pic>
        <p:nvPicPr>
          <p:cNvPr id="12" name="Рисунок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9112055">
            <a:off x="-4355654" y="-3560452"/>
            <a:ext cx="9525000" cy="5486400"/>
          </a:xfrm>
          <a:prstGeom prst="rect">
            <a:avLst/>
          </a:prstGeom>
        </p:spPr>
      </p:pic>
      <p:pic>
        <p:nvPicPr>
          <p:cNvPr id="2" name="Рисунок 1"/>
          <p:cNvPicPr>
            <a:picLocks noChangeAspect="1"/>
          </p:cNvPicPr>
          <p:nvPr/>
        </p:nvPicPr>
        <p:blipFill rotWithShape="1">
          <a:blip r:embed="rId3">
            <a:extLst>
              <a:ext uri="{28A0092B-C50C-407E-A947-70E740481C1C}">
                <a14:useLocalDpi xmlns:a14="http://schemas.microsoft.com/office/drawing/2010/main" val="0"/>
              </a:ext>
            </a:extLst>
          </a:blip>
          <a:srcRect r="54517" b="15553"/>
          <a:stretch/>
        </p:blipFill>
        <p:spPr>
          <a:xfrm>
            <a:off x="7532139" y="753070"/>
            <a:ext cx="3474490" cy="4415939"/>
          </a:xfrm>
          <a:prstGeom prst="rect">
            <a:avLst/>
          </a:prstGeom>
        </p:spPr>
      </p:pic>
      <p:pic>
        <p:nvPicPr>
          <p:cNvPr id="4" name="Рисунок 3"/>
          <p:cNvPicPr>
            <a:picLocks noChangeAspect="1"/>
          </p:cNvPicPr>
          <p:nvPr/>
        </p:nvPicPr>
        <p:blipFill rotWithShape="1">
          <a:blip r:embed="rId3">
            <a:extLst>
              <a:ext uri="{28A0092B-C50C-407E-A947-70E740481C1C}">
                <a14:useLocalDpi xmlns:a14="http://schemas.microsoft.com/office/drawing/2010/main" val="0"/>
              </a:ext>
            </a:extLst>
          </a:blip>
          <a:srcRect l="53353" b="15306"/>
          <a:stretch/>
        </p:blipFill>
        <p:spPr>
          <a:xfrm>
            <a:off x="1126958" y="618015"/>
            <a:ext cx="3563363" cy="4428822"/>
          </a:xfrm>
          <a:prstGeom prst="rect">
            <a:avLst/>
          </a:prstGeom>
        </p:spPr>
      </p:pic>
    </p:spTree>
    <p:extLst>
      <p:ext uri="{BB962C8B-B14F-4D97-AF65-F5344CB8AC3E}">
        <p14:creationId xmlns:p14="http://schemas.microsoft.com/office/powerpoint/2010/main" val="16933762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171505" y="239312"/>
            <a:ext cx="5571605" cy="898896"/>
          </a:xfrm>
        </p:spPr>
        <p:txBody>
          <a:bodyPr>
            <a:normAutofit/>
          </a:bodyPr>
          <a:lstStyle/>
          <a:p>
            <a:r>
              <a:rPr lang="ru-RU" sz="3600" b="1" dirty="0" smtClean="0"/>
              <a:t>Ранние годы. Образование</a:t>
            </a:r>
            <a:endParaRPr lang="ru-RU" sz="3600" b="1" dirty="0"/>
          </a:p>
        </p:txBody>
      </p:sp>
      <p:sp>
        <p:nvSpPr>
          <p:cNvPr id="3" name="Объект 2"/>
          <p:cNvSpPr>
            <a:spLocks noGrp="1"/>
          </p:cNvSpPr>
          <p:nvPr>
            <p:ph idx="1"/>
          </p:nvPr>
        </p:nvSpPr>
        <p:spPr>
          <a:xfrm>
            <a:off x="875493" y="1401677"/>
            <a:ext cx="10515600" cy="4616738"/>
          </a:xfrm>
        </p:spPr>
        <p:txBody>
          <a:bodyPr>
            <a:normAutofit/>
          </a:bodyPr>
          <a:lstStyle/>
          <a:p>
            <a:r>
              <a:rPr lang="ru-RU" sz="2400" dirty="0"/>
              <a:t>Родился 31 марта(12 апреля) 1823 года в Москве, вырос в купеческой среде. Мать умерла, когда ему было 8 лет. И отец женился снова. Детей в семье было четверо.</a:t>
            </a:r>
          </a:p>
          <a:p>
            <a:r>
              <a:rPr lang="ru-RU" sz="2400" dirty="0"/>
              <a:t>Островский получал образование дома. У его отца была большая библиотека, где маленький Александр впервые стал читать русскую литературу. Однако отец хотел дать сыну юридическое образование. В 1835 году Островский начал учебу в гимназии, а затем поступил в Московский университет на юридический факультет. Из-за увлечений театром, литературой, он так и не окончил учебу в университете (1843 г.), после по настоянию отца работал писцом в суде . В судах Островский служил до 1851 года.</a:t>
            </a:r>
          </a:p>
          <a:p>
            <a:pPr marL="0" indent="0">
              <a:buNone/>
            </a:pPr>
            <a:endParaRPr lang="ru-RU" sz="2400" dirty="0" smtClean="0"/>
          </a:p>
        </p:txBody>
      </p:sp>
      <p:cxnSp>
        <p:nvCxnSpPr>
          <p:cNvPr id="17" name="Прямая соединительная линия 16"/>
          <p:cNvCxnSpPr/>
          <p:nvPr/>
        </p:nvCxnSpPr>
        <p:spPr>
          <a:xfrm flipV="1">
            <a:off x="3156043" y="1067284"/>
            <a:ext cx="5354778" cy="43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Рамка 18"/>
          <p:cNvSpPr/>
          <p:nvPr/>
        </p:nvSpPr>
        <p:spPr>
          <a:xfrm rot="2621358">
            <a:off x="8532851" y="1017188"/>
            <a:ext cx="112287" cy="108798"/>
          </a:xfrm>
          <a:prstGeom prst="frame">
            <a:avLst>
              <a:gd name="adj1" fmla="val 1144"/>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n w="28575">
                <a:solidFill>
                  <a:schemeClr val="tx1"/>
                </a:solidFill>
              </a:ln>
              <a:solidFill>
                <a:schemeClr val="tx1"/>
              </a:solidFill>
            </a:endParaRPr>
          </a:p>
        </p:txBody>
      </p:sp>
      <p:sp>
        <p:nvSpPr>
          <p:cNvPr id="20" name="Рамка 19"/>
          <p:cNvSpPr/>
          <p:nvPr/>
        </p:nvSpPr>
        <p:spPr>
          <a:xfrm rot="2621358">
            <a:off x="3037188" y="1017188"/>
            <a:ext cx="112287" cy="108798"/>
          </a:xfrm>
          <a:prstGeom prst="frame">
            <a:avLst>
              <a:gd name="adj1" fmla="val 1144"/>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n w="28575">
                <a:solidFill>
                  <a:schemeClr val="tx1"/>
                </a:solidFill>
              </a:ln>
              <a:solidFill>
                <a:schemeClr val="tx1"/>
              </a:solidFill>
            </a:endParaRPr>
          </a:p>
        </p:txBody>
      </p:sp>
      <p:pic>
        <p:nvPicPr>
          <p:cNvPr id="28" name="Рисунок 2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8654489">
            <a:off x="7348801" y="3465288"/>
            <a:ext cx="9525000" cy="5486400"/>
          </a:xfrm>
          <a:prstGeom prst="rect">
            <a:avLst/>
          </a:prstGeom>
        </p:spPr>
      </p:pic>
      <p:pic>
        <p:nvPicPr>
          <p:cNvPr id="29" name="Рисунок 2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9112055">
            <a:off x="-4251766" y="-3586483"/>
            <a:ext cx="9525000" cy="5927061"/>
          </a:xfrm>
          <a:prstGeom prst="rect">
            <a:avLst/>
          </a:prstGeom>
        </p:spPr>
      </p:pic>
    </p:spTree>
    <p:extLst>
      <p:ext uri="{BB962C8B-B14F-4D97-AF65-F5344CB8AC3E}">
        <p14:creationId xmlns:p14="http://schemas.microsoft.com/office/powerpoint/2010/main" val="9333197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5001712" y="1423023"/>
            <a:ext cx="6735859" cy="4886338"/>
          </a:xfrm>
        </p:spPr>
        <p:txBody>
          <a:bodyPr>
            <a:noAutofit/>
          </a:bodyPr>
          <a:lstStyle/>
          <a:p>
            <a:r>
              <a:rPr lang="ru-RU" sz="2200" dirty="0"/>
              <a:t>В 1849 году было написано произведение Островского «Свои люди – сочтемся!», которое принесло ему литературную известность, его высоко оценили Николай Гоголь и Иван Гончаров. Затем, невзирая на цензуру, было выпущено множество его пьес, книг. Для Островского сочинения являются способом правдиво изобразить жизнь народа. Пьесы «Гроза», «Бесприданница», «Лес» являются одними из самых главных его произведений. Пьеса Островского «Бесприданница», как и другие психологические драмы, нестандартно описывает характеры, внутренний мир, терзания героев.</a:t>
            </a:r>
          </a:p>
          <a:p>
            <a:r>
              <a:rPr lang="ru-RU" sz="2200" dirty="0"/>
              <a:t>С 1856 года писатель участвует в выпуске журнала «Современник</a:t>
            </a:r>
            <a:r>
              <a:rPr lang="ru-RU" sz="2200" dirty="0" smtClean="0"/>
              <a:t>».</a:t>
            </a:r>
            <a:endParaRPr lang="ru-RU" sz="2200" dirty="0"/>
          </a:p>
        </p:txBody>
      </p:sp>
      <p:sp>
        <p:nvSpPr>
          <p:cNvPr id="5" name="Заголовок 1"/>
          <p:cNvSpPr>
            <a:spLocks noGrp="1"/>
          </p:cNvSpPr>
          <p:nvPr>
            <p:ph type="title"/>
          </p:nvPr>
        </p:nvSpPr>
        <p:spPr>
          <a:xfrm>
            <a:off x="3208428" y="284546"/>
            <a:ext cx="5250007" cy="865158"/>
          </a:xfrm>
        </p:spPr>
        <p:txBody>
          <a:bodyPr>
            <a:noAutofit/>
          </a:bodyPr>
          <a:lstStyle/>
          <a:p>
            <a:r>
              <a:rPr lang="ru-RU" sz="3600" b="1" dirty="0" smtClean="0"/>
              <a:t>Творческий путь. Карьера</a:t>
            </a:r>
            <a:endParaRPr lang="ru-RU" sz="3600" b="1" dirty="0"/>
          </a:p>
        </p:txBody>
      </p:sp>
      <p:cxnSp>
        <p:nvCxnSpPr>
          <p:cNvPr id="6" name="Прямая соединительная линия 5"/>
          <p:cNvCxnSpPr/>
          <p:nvPr/>
        </p:nvCxnSpPr>
        <p:spPr>
          <a:xfrm flipV="1">
            <a:off x="3156043" y="1067284"/>
            <a:ext cx="5354778" cy="43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Рамка 6"/>
          <p:cNvSpPr/>
          <p:nvPr/>
        </p:nvSpPr>
        <p:spPr>
          <a:xfrm rot="2621358">
            <a:off x="3037188" y="1017188"/>
            <a:ext cx="112287" cy="108798"/>
          </a:xfrm>
          <a:prstGeom prst="frame">
            <a:avLst>
              <a:gd name="adj1" fmla="val 1144"/>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n w="28575">
                <a:solidFill>
                  <a:schemeClr val="tx1"/>
                </a:solidFill>
              </a:ln>
              <a:solidFill>
                <a:schemeClr val="tx1"/>
              </a:solidFill>
            </a:endParaRPr>
          </a:p>
        </p:txBody>
      </p:sp>
      <p:sp>
        <p:nvSpPr>
          <p:cNvPr id="8" name="Рамка 7"/>
          <p:cNvSpPr/>
          <p:nvPr/>
        </p:nvSpPr>
        <p:spPr>
          <a:xfrm rot="2621358">
            <a:off x="8532851" y="1017188"/>
            <a:ext cx="112287" cy="108798"/>
          </a:xfrm>
          <a:prstGeom prst="frame">
            <a:avLst>
              <a:gd name="adj1" fmla="val 1144"/>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n w="28575">
                <a:solidFill>
                  <a:schemeClr val="tx1"/>
                </a:solidFill>
              </a:ln>
              <a:solidFill>
                <a:schemeClr val="tx1"/>
              </a:solidFill>
            </a:endParaRPr>
          </a:p>
        </p:txBody>
      </p:sp>
      <p:pic>
        <p:nvPicPr>
          <p:cNvPr id="10" name="Рисунок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9112055">
            <a:off x="-4355654" y="-3560452"/>
            <a:ext cx="9525000" cy="5486400"/>
          </a:xfrm>
          <a:prstGeom prst="rect">
            <a:avLst/>
          </a:prstGeom>
        </p:spPr>
      </p:pic>
      <p:pic>
        <p:nvPicPr>
          <p:cNvPr id="11" name="Рисунок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1935853">
            <a:off x="5097341" y="-3770567"/>
            <a:ext cx="9525000" cy="5486400"/>
          </a:xfrm>
          <a:prstGeom prst="rect">
            <a:avLst/>
          </a:prstGeom>
        </p:spPr>
      </p:pic>
      <p:pic>
        <p:nvPicPr>
          <p:cNvPr id="12" name="Рисунок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8654489">
            <a:off x="7348801" y="3465288"/>
            <a:ext cx="9525000" cy="5486400"/>
          </a:xfrm>
          <a:prstGeom prst="rect">
            <a:avLst/>
          </a:prstGeom>
        </p:spPr>
      </p:pic>
      <p:pic>
        <p:nvPicPr>
          <p:cNvPr id="13" name="Рисунок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466" y="1471351"/>
            <a:ext cx="3499764" cy="4165008"/>
          </a:xfrm>
          <a:prstGeom prst="rect">
            <a:avLst/>
          </a:prstGeom>
        </p:spPr>
      </p:pic>
    </p:spTree>
    <p:extLst>
      <p:ext uri="{BB962C8B-B14F-4D97-AF65-F5344CB8AC3E}">
        <p14:creationId xmlns:p14="http://schemas.microsoft.com/office/powerpoint/2010/main" val="6468382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5194570" y="262648"/>
            <a:ext cx="6612267" cy="6271156"/>
          </a:xfrm>
        </p:spPr>
        <p:txBody>
          <a:bodyPr>
            <a:noAutofit/>
          </a:bodyPr>
          <a:lstStyle/>
          <a:p>
            <a:r>
              <a:rPr lang="ru-RU" sz="2000" dirty="0"/>
              <a:t>В биографии Александра Островского почетное место занимает театральное дело.</a:t>
            </a:r>
            <a:br>
              <a:rPr lang="ru-RU" sz="2000" dirty="0"/>
            </a:br>
            <a:r>
              <a:rPr lang="ru-RU" sz="2000" dirty="0"/>
              <a:t>Островский основал Артистический кружок в 1866 году, благодаря которому появилось много талантливых людей в театральном кругу.</a:t>
            </a:r>
          </a:p>
          <a:p>
            <a:r>
              <a:rPr lang="ru-RU" sz="2000" dirty="0"/>
              <a:t>Вместе с Артистическим кружком он значительно реформировал, развил русский театр.</a:t>
            </a:r>
          </a:p>
          <a:p>
            <a:r>
              <a:rPr lang="ru-RU" sz="2000" dirty="0"/>
              <a:t>Дом Островского часто посещали известные люди, среди которых И. А. Гончаров, Д. В. Григорович, Иван Тургенев, А. Ф. Писемский, Фёдор Достоевский, П. М. Садовский, Михаил Салтыков-Щедрин, Лев Толстой, Пётр Чайковский, М. Н. Ермолова и другие.</a:t>
            </a:r>
          </a:p>
          <a:p>
            <a:r>
              <a:rPr lang="ru-RU" sz="2000" dirty="0"/>
              <a:t>В краткой биографии Островского стоит обязательно упомянуть о появлении в 1874 году Общества русских драматических писателей и оперных композиторов, где Островский был председателем. Своими нововведениями он добился улучшения жизни актеров театра. С 1885 года Островский возглавлял театральное училище и был заведующим репертуаром театров </a:t>
            </a:r>
            <a:r>
              <a:rPr lang="ru-RU" sz="2000" dirty="0" smtClean="0"/>
              <a:t>Москвы</a:t>
            </a:r>
            <a:endParaRPr lang="ru-RU" sz="2000" dirty="0"/>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8654489">
            <a:off x="7701876" y="3669568"/>
            <a:ext cx="9525000" cy="5486400"/>
          </a:xfrm>
          <a:prstGeom prst="rect">
            <a:avLst/>
          </a:prstGeom>
        </p:spPr>
      </p:pic>
      <p:pic>
        <p:nvPicPr>
          <p:cNvPr id="6" name="Рисунок 5"/>
          <p:cNvPicPr>
            <a:picLocks noChangeAspect="1"/>
          </p:cNvPicPr>
          <p:nvPr/>
        </p:nvPicPr>
        <p:blipFill rotWithShape="1">
          <a:blip r:embed="rId3">
            <a:extLst>
              <a:ext uri="{28A0092B-C50C-407E-A947-70E740481C1C}">
                <a14:useLocalDpi xmlns:a14="http://schemas.microsoft.com/office/drawing/2010/main" val="0"/>
              </a:ext>
            </a:extLst>
          </a:blip>
          <a:srcRect l="30214" t="-1" r="12902" b="714"/>
          <a:stretch/>
        </p:blipFill>
        <p:spPr>
          <a:xfrm>
            <a:off x="680937" y="700391"/>
            <a:ext cx="4387602" cy="4955301"/>
          </a:xfrm>
          <a:prstGeom prst="rect">
            <a:avLst/>
          </a:prstGeom>
        </p:spPr>
      </p:pic>
    </p:spTree>
    <p:extLst>
      <p:ext uri="{BB962C8B-B14F-4D97-AF65-F5344CB8AC3E}">
        <p14:creationId xmlns:p14="http://schemas.microsoft.com/office/powerpoint/2010/main" val="3639409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876114" y="1393105"/>
            <a:ext cx="6463076" cy="4175819"/>
          </a:xfrm>
        </p:spPr>
        <p:txBody>
          <a:bodyPr>
            <a:noAutofit/>
          </a:bodyPr>
          <a:lstStyle/>
          <a:p>
            <a:r>
              <a:rPr lang="ru-RU" sz="2400" dirty="0"/>
              <a:t>До конца своей жизни Островский испытывал материальные трудности. Напряженная работа сильно истощала организм, а здоровье все чаще подводило писателя. Островский мечтал о возрождении театральной школы, в которой можно бы было обучать профессиональному актерскому мастерству, однако смерть писателя помешала осуществить давно задуманные планы.</a:t>
            </a:r>
          </a:p>
          <a:p>
            <a:r>
              <a:rPr lang="ru-RU" sz="2400" dirty="0"/>
              <a:t>Островский умер 2(14) июня 1886 года в своём имении. Писателя похоронили рядом с отцом, в селе </a:t>
            </a:r>
            <a:r>
              <a:rPr lang="ru-RU" sz="2400" dirty="0" err="1"/>
              <a:t>Николо</a:t>
            </a:r>
            <a:r>
              <a:rPr lang="ru-RU" sz="2400" dirty="0"/>
              <a:t>-Бережки Костромской губернии</a:t>
            </a:r>
            <a:r>
              <a:rPr lang="ru-RU" sz="2400" dirty="0" smtClean="0"/>
              <a:t>.</a:t>
            </a:r>
            <a:endParaRPr lang="ru-RU" sz="2400" dirty="0"/>
          </a:p>
        </p:txBody>
      </p:sp>
      <p:sp>
        <p:nvSpPr>
          <p:cNvPr id="5" name="Заголовок 1"/>
          <p:cNvSpPr>
            <a:spLocks noGrp="1"/>
          </p:cNvSpPr>
          <p:nvPr>
            <p:ph type="title"/>
          </p:nvPr>
        </p:nvSpPr>
        <p:spPr>
          <a:xfrm>
            <a:off x="3639446" y="284546"/>
            <a:ext cx="4913107" cy="854298"/>
          </a:xfrm>
        </p:spPr>
        <p:txBody>
          <a:bodyPr>
            <a:noAutofit/>
          </a:bodyPr>
          <a:lstStyle/>
          <a:p>
            <a:r>
              <a:rPr lang="ru-RU" sz="3600" b="1" dirty="0" smtClean="0"/>
              <a:t>Последние годы жизни</a:t>
            </a:r>
            <a:endParaRPr lang="ru-RU" sz="3600" b="1" dirty="0"/>
          </a:p>
        </p:txBody>
      </p:sp>
      <p:cxnSp>
        <p:nvCxnSpPr>
          <p:cNvPr id="6" name="Прямая соединительная линия 5"/>
          <p:cNvCxnSpPr/>
          <p:nvPr/>
        </p:nvCxnSpPr>
        <p:spPr>
          <a:xfrm flipV="1">
            <a:off x="3582138" y="1043347"/>
            <a:ext cx="4871375" cy="50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Рамка 6"/>
          <p:cNvSpPr/>
          <p:nvPr/>
        </p:nvSpPr>
        <p:spPr>
          <a:xfrm rot="2621358">
            <a:off x="3476475" y="993206"/>
            <a:ext cx="112287" cy="108798"/>
          </a:xfrm>
          <a:prstGeom prst="frame">
            <a:avLst>
              <a:gd name="adj1" fmla="val 1144"/>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n w="28575">
                <a:solidFill>
                  <a:schemeClr val="tx1"/>
                </a:solidFill>
              </a:ln>
              <a:solidFill>
                <a:schemeClr val="tx1"/>
              </a:solidFill>
            </a:endParaRPr>
          </a:p>
        </p:txBody>
      </p:sp>
      <p:sp>
        <p:nvSpPr>
          <p:cNvPr id="8" name="Рамка 7"/>
          <p:cNvSpPr/>
          <p:nvPr/>
        </p:nvSpPr>
        <p:spPr>
          <a:xfrm rot="2621358">
            <a:off x="8475545" y="993205"/>
            <a:ext cx="112287" cy="108798"/>
          </a:xfrm>
          <a:prstGeom prst="frame">
            <a:avLst>
              <a:gd name="adj1" fmla="val 1144"/>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n w="28575">
                <a:solidFill>
                  <a:schemeClr val="tx1"/>
                </a:solidFill>
              </a:ln>
              <a:solidFill>
                <a:schemeClr val="tx1"/>
              </a:solidFill>
            </a:endParaRPr>
          </a:p>
        </p:txBody>
      </p:sp>
      <p:pic>
        <p:nvPicPr>
          <p:cNvPr id="14" name="Рисунок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8654489">
            <a:off x="7520880" y="3608852"/>
            <a:ext cx="9525000" cy="5486400"/>
          </a:xfrm>
          <a:prstGeom prst="rect">
            <a:avLst/>
          </a:prstGeom>
        </p:spPr>
      </p:pic>
      <p:pic>
        <p:nvPicPr>
          <p:cNvPr id="15" name="Рисунок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1935853">
            <a:off x="5097341" y="-3770567"/>
            <a:ext cx="9525000" cy="5486400"/>
          </a:xfrm>
          <a:prstGeom prst="rect">
            <a:avLst/>
          </a:prstGeom>
        </p:spPr>
      </p:pic>
      <p:pic>
        <p:nvPicPr>
          <p:cNvPr id="16" name="Рисунок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9112055">
            <a:off x="-4355654" y="-3560452"/>
            <a:ext cx="9525000" cy="5486400"/>
          </a:xfrm>
          <a:prstGeom prst="rect">
            <a:avLst/>
          </a:prstGeom>
        </p:spPr>
      </p:pic>
      <p:pic>
        <p:nvPicPr>
          <p:cNvPr id="17" name="Рисунок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878245">
            <a:off x="-5220703" y="4114800"/>
            <a:ext cx="9525000" cy="5486400"/>
          </a:xfrm>
          <a:prstGeom prst="rect">
            <a:avLst/>
          </a:prstGeom>
        </p:spPr>
      </p:pic>
      <p:pic>
        <p:nvPicPr>
          <p:cNvPr id="2" name="Рисунок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9274" y="1330035"/>
            <a:ext cx="3317580" cy="4976370"/>
          </a:xfrm>
          <a:prstGeom prst="rect">
            <a:avLst/>
          </a:prstGeom>
        </p:spPr>
      </p:pic>
    </p:spTree>
    <p:extLst>
      <p:ext uri="{BB962C8B-B14F-4D97-AF65-F5344CB8AC3E}">
        <p14:creationId xmlns:p14="http://schemas.microsoft.com/office/powerpoint/2010/main" val="3603894209"/>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350</Words>
  <Application>Microsoft Office PowerPoint</Application>
  <PresentationFormat>Широкоэкранный</PresentationFormat>
  <Paragraphs>21</Paragraphs>
  <Slides>6</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6</vt:i4>
      </vt:variant>
    </vt:vector>
  </HeadingPairs>
  <TitlesOfParts>
    <vt:vector size="11" baseType="lpstr">
      <vt:lpstr>Arial</vt:lpstr>
      <vt:lpstr>Calibri</vt:lpstr>
      <vt:lpstr>Calibri Light</vt:lpstr>
      <vt:lpstr>Liberation Serif</vt:lpstr>
      <vt:lpstr>Тема Office</vt:lpstr>
      <vt:lpstr>Александр Николаевич Островский </vt:lpstr>
      <vt:lpstr>Презентация PowerPoint</vt:lpstr>
      <vt:lpstr>Ранние годы. Образование</vt:lpstr>
      <vt:lpstr>Творческий путь. Карьера</vt:lpstr>
      <vt:lpstr>Презентация PowerPoint</vt:lpstr>
      <vt:lpstr>Последние годы жизни</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Иван Александрович Гончаров</dc:title>
  <dc:creator>comp-8</dc:creator>
  <cp:lastModifiedBy>comp-8</cp:lastModifiedBy>
  <cp:revision>16</cp:revision>
  <dcterms:created xsi:type="dcterms:W3CDTF">2025-09-04T08:34:18Z</dcterms:created>
  <dcterms:modified xsi:type="dcterms:W3CDTF">2025-09-25T15:11:59Z</dcterms:modified>
</cp:coreProperties>
</file>