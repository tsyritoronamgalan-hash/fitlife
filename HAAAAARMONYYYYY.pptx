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4" r:id="rId1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FA89FC71-6FD6-4394-BDC4-56413E0884BC}" type="datetimeFigureOut">
              <a:rPr lang="ru-RU" smtClean="0"/>
              <a:t>16.12.2025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3835368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A89FC71-6FD6-4394-BDC4-56413E0884BC}" type="datetimeFigureOut">
              <a:rPr lang="ru-RU" smtClean="0"/>
              <a:t>16.12.2025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2123203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FA89FC71-6FD6-4394-BDC4-56413E0884BC}" type="datetimeFigureOut">
              <a:rPr lang="ru-RU" smtClean="0"/>
              <a:t>16.12.2025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436546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FA89FC71-6FD6-4394-BDC4-56413E0884BC}" type="datetimeFigureOut">
              <a:rPr lang="ru-RU" smtClean="0"/>
              <a:t>16.12.2025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195953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FA89FC71-6FD6-4394-BDC4-56413E0884BC}" type="datetimeFigureOut">
              <a:rPr lang="ru-RU" smtClean="0"/>
              <a:t>16.12.2025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2138471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FA89FC71-6FD6-4394-BDC4-56413E0884BC}" type="datetimeFigureOut">
              <a:rPr lang="ru-RU" smtClean="0"/>
              <a:t>16.12.2025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79935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A89FC71-6FD6-4394-BDC4-56413E0884BC}" type="datetimeFigureOut">
              <a:rPr lang="ru-RU" smtClean="0"/>
              <a:t>16.12.2025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2491429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A89FC71-6FD6-4394-BDC4-56413E0884BC}" type="datetimeFigureOut">
              <a:rPr lang="ru-RU" smtClean="0"/>
              <a:t>16.12.2025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2208644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A89FC71-6FD6-4394-BDC4-56413E0884BC}" type="datetimeFigureOut">
              <a:rPr lang="ru-RU" smtClean="0"/>
              <a:t>16.12.2025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2078960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A89FC71-6FD6-4394-BDC4-56413E0884BC}" type="datetimeFigureOut">
              <a:rPr lang="ru-RU" smtClean="0"/>
              <a:t>16.12.2025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2041444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A89FC71-6FD6-4394-BDC4-56413E0884BC}" type="datetimeFigureOut">
              <a:rPr lang="ru-RU" smtClean="0"/>
              <a:t>16.12.2025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31BD06B-8911-4C1E-8FC8-8CD278979AA4}" type="slidenum">
              <a:rPr lang="ru-RU" smtClean="0"/>
              <a:t>‹#›</a:t>
            </a:fld>
            <a:endParaRPr lang="ru-RU"/>
          </a:p>
        </p:txBody>
      </p:sp>
    </p:spTree>
    <p:extLst>
      <p:ext uri="{BB962C8B-B14F-4D97-AF65-F5344CB8AC3E}">
        <p14:creationId xmlns:p14="http://schemas.microsoft.com/office/powerpoint/2010/main" val="998726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89FC71-6FD6-4394-BDC4-56413E0884BC}" type="datetimeFigureOut">
              <a:rPr lang="ru-RU" smtClean="0"/>
              <a:t>16.12.2025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1BD06B-8911-4C1E-8FC8-8CD278979AA4}" type="slidenum">
              <a:rPr lang="ru-RU" smtClean="0"/>
              <a:t>‹#›</a:t>
            </a:fld>
            <a:endParaRPr lang="ru-RU"/>
          </a:p>
        </p:txBody>
      </p:sp>
    </p:spTree>
    <p:extLst>
      <p:ext uri="{BB962C8B-B14F-4D97-AF65-F5344CB8AC3E}">
        <p14:creationId xmlns:p14="http://schemas.microsoft.com/office/powerpoint/2010/main" val="705511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07/relationships/hdphoto" Target="../media/hdphoto3.wdp"/><Relationship Id="rId7" Type="http://schemas.microsoft.com/office/2007/relationships/hdphoto" Target="../media/hdphoto5.wdp"/><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4.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8.wdp"/><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7.wdp"/></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f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f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f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Рисунок 9"/>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rot="16200000">
            <a:off x="2583459" y="-2750541"/>
            <a:ext cx="6988029" cy="12229052"/>
          </a:xfrm>
          <a:prstGeom prst="rect">
            <a:avLst/>
          </a:prstGeom>
        </p:spPr>
      </p:pic>
      <p:grpSp>
        <p:nvGrpSpPr>
          <p:cNvPr id="12" name="Группа 11"/>
          <p:cNvGrpSpPr/>
          <p:nvPr/>
        </p:nvGrpSpPr>
        <p:grpSpPr>
          <a:xfrm>
            <a:off x="1819122" y="-647620"/>
            <a:ext cx="8283270" cy="8283270"/>
            <a:chOff x="1819122" y="-647620"/>
            <a:chExt cx="8283270" cy="8283270"/>
          </a:xfrm>
        </p:grpSpPr>
        <p:pic>
          <p:nvPicPr>
            <p:cNvPr id="11" name="Рисунок 10"/>
            <p:cNvPicPr>
              <a:picLocks noChangeAspect="1"/>
            </p:cNvPicPr>
            <p:nvPr/>
          </p:nvPicPr>
          <p:blipFill>
            <a:blip r:embed="rId4">
              <a:extLst>
                <a:ext uri="{BEBA8EAE-BF5A-486C-A8C5-ECC9F3942E4B}">
                  <a14:imgProps xmlns:a14="http://schemas.microsoft.com/office/drawing/2010/main">
                    <a14:imgLayer r:embed="rId5">
                      <a14:imgEffect>
                        <a14:backgroundRemoval t="9918" b="98370" l="9918" r="89946">
                          <a14:foregroundMark x1="16440" y1="15217" x2="83560" y2="15489"/>
                          <a14:foregroundMark x1="16304" y1="16576" x2="84511" y2="39810"/>
                          <a14:foregroundMark x1="85462" y1="15082" x2="15489" y2="41576"/>
                          <a14:foregroundMark x1="28397" y1="40217" x2="62500" y2="36685"/>
                          <a14:foregroundMark x1="33967" y1="42935" x2="46467" y2="87908"/>
                          <a14:foregroundMark x1="66848" y1="37364" x2="43207" y2="98370"/>
                          <a14:foregroundMark x1="47554" y1="58424" x2="55299" y2="95109"/>
                        </a14:backgroundRemoval>
                      </a14:imgEffect>
                    </a14:imgLayer>
                  </a14:imgProps>
                </a:ext>
                <a:ext uri="{28A0092B-C50C-407E-A947-70E740481C1C}">
                  <a14:useLocalDpi xmlns:a14="http://schemas.microsoft.com/office/drawing/2010/main" val="0"/>
                </a:ext>
              </a:extLst>
            </a:blip>
            <a:stretch>
              <a:fillRect/>
            </a:stretch>
          </p:blipFill>
          <p:spPr>
            <a:xfrm>
              <a:off x="1819122" y="-647620"/>
              <a:ext cx="8283270" cy="8283270"/>
            </a:xfrm>
            <a:prstGeom prst="rect">
              <a:avLst/>
            </a:prstGeom>
          </p:spPr>
        </p:pic>
        <p:sp>
          <p:nvSpPr>
            <p:cNvPr id="7" name="TextBox 6"/>
            <p:cNvSpPr txBox="1"/>
            <p:nvPr/>
          </p:nvSpPr>
          <p:spPr>
            <a:xfrm>
              <a:off x="3626633" y="744480"/>
              <a:ext cx="5257309" cy="1747050"/>
            </a:xfrm>
            <a:prstGeom prst="rect">
              <a:avLst/>
            </a:prstGeom>
            <a:noFill/>
          </p:spPr>
          <p:txBody>
            <a:bodyPr wrap="square" rtlCol="0">
              <a:spAutoFit/>
            </a:bodyPr>
            <a:lstStyle/>
            <a:p>
              <a:r>
                <a:rPr lang="en-US" sz="5400" b="1" dirty="0" smtClean="0">
                  <a:latin typeface="Copperplate Gothic Bold" panose="020E0705020206020404" pitchFamily="34" charset="0"/>
                </a:rPr>
                <a:t>In harmony </a:t>
              </a:r>
              <a:endParaRPr lang="ru-RU" sz="5400" b="1" dirty="0" smtClean="0">
                <a:latin typeface="Copperplate Gothic Bold" panose="020E0705020206020404" pitchFamily="34" charset="0"/>
              </a:endParaRPr>
            </a:p>
            <a:p>
              <a:r>
                <a:rPr lang="en-US" sz="5400" b="1" dirty="0" smtClean="0">
                  <a:latin typeface="Copperplate Gothic Bold" panose="020E0705020206020404" pitchFamily="34" charset="0"/>
                </a:rPr>
                <a:t>with others</a:t>
              </a:r>
              <a:endParaRPr lang="ru-RU" sz="5400" b="1" dirty="0">
                <a:latin typeface="CoffeeMan Aged" pitchFamily="2" charset="0"/>
              </a:endParaRPr>
            </a:p>
          </p:txBody>
        </p:sp>
      </p:grpSp>
      <p:sp>
        <p:nvSpPr>
          <p:cNvPr id="8" name="TextBox 7"/>
          <p:cNvSpPr txBox="1"/>
          <p:nvPr/>
        </p:nvSpPr>
        <p:spPr>
          <a:xfrm>
            <a:off x="10373972" y="6044507"/>
            <a:ext cx="2108661" cy="646331"/>
          </a:xfrm>
          <a:prstGeom prst="rect">
            <a:avLst/>
          </a:prstGeom>
          <a:noFill/>
        </p:spPr>
        <p:txBody>
          <a:bodyPr wrap="square" rtlCol="0">
            <a:spAutoFit/>
          </a:bodyPr>
          <a:lstStyle/>
          <a:p>
            <a:r>
              <a:rPr lang="en-US" dirty="0" err="1" smtClean="0">
                <a:latin typeface="Copperplate Gothic Bold" panose="020E0705020206020404" pitchFamily="34" charset="0"/>
              </a:rPr>
              <a:t>Amgalan</a:t>
            </a:r>
            <a:r>
              <a:rPr lang="en-US" dirty="0" smtClean="0">
                <a:latin typeface="Copperplate Gothic Bold" panose="020E0705020206020404" pitchFamily="34" charset="0"/>
              </a:rPr>
              <a:t> </a:t>
            </a:r>
            <a:r>
              <a:rPr lang="en-US" dirty="0" err="1" smtClean="0">
                <a:latin typeface="Copperplate Gothic Bold" panose="020E0705020206020404" pitchFamily="34" charset="0"/>
              </a:rPr>
              <a:t>Tsyritoron</a:t>
            </a:r>
            <a:endParaRPr lang="ru-RU" dirty="0">
              <a:latin typeface="CoffeeMan Aged" pitchFamily="2" charset="0"/>
            </a:endParaRPr>
          </a:p>
        </p:txBody>
      </p:sp>
    </p:spTree>
    <p:extLst>
      <p:ext uri="{BB962C8B-B14F-4D97-AF65-F5344CB8AC3E}">
        <p14:creationId xmlns:p14="http://schemas.microsoft.com/office/powerpoint/2010/main" val="766643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25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750" fill="hold"/>
                                        <p:tgtEl>
                                          <p:spTgt spid="12"/>
                                        </p:tgtEl>
                                        <p:attrNameLst>
                                          <p:attrName>ppt_x</p:attrName>
                                        </p:attrNameLst>
                                      </p:cBhvr>
                                      <p:tavLst>
                                        <p:tav tm="0">
                                          <p:val>
                                            <p:strVal val="#ppt_x"/>
                                          </p:val>
                                        </p:tav>
                                        <p:tav tm="100000">
                                          <p:val>
                                            <p:strVal val="#ppt_x"/>
                                          </p:val>
                                        </p:tav>
                                      </p:tavLst>
                                    </p:anim>
                                    <p:anim calcmode="lin" valueType="num">
                                      <p:cBhvr additive="base">
                                        <p:cTn id="8" dur="17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Объект 13"/>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0" y="0"/>
            <a:ext cx="12969667" cy="7272131"/>
          </a:xfrm>
        </p:spPr>
      </p:pic>
      <p:pic>
        <p:nvPicPr>
          <p:cNvPr id="16" name="Рисунок 15"/>
          <p:cNvPicPr>
            <a:picLocks noChangeAspect="1"/>
          </p:cNvPicPr>
          <p:nvPr/>
        </p:nvPicPr>
        <p:blipFill>
          <a:blip r:embed="rId4">
            <a:extLst>
              <a:ext uri="{BEBA8EAE-BF5A-486C-A8C5-ECC9F3942E4B}">
                <a14:imgProps xmlns:a14="http://schemas.microsoft.com/office/drawing/2010/main">
                  <a14:imgLayer r:embed="rId5">
                    <a14:imgEffect>
                      <a14:backgroundRemoval t="9721" b="98101" l="9783" r="92391">
                        <a14:foregroundMark x1="39810" y1="66704" x2="23641" y2="88827"/>
                        <a14:foregroundMark x1="23234" y1="86592" x2="17799" y2="97095"/>
                        <a14:foregroundMark x1="38315" y1="81117" x2="44022" y2="98212"/>
                        <a14:foregroundMark x1="55163" y1="69609" x2="79891" y2="91285"/>
                        <a14:foregroundMark x1="64402" y1="61564" x2="88723" y2="84804"/>
                        <a14:foregroundMark x1="72011" y1="62570" x2="89130" y2="77654"/>
                        <a14:foregroundMark x1="66168" y1="47821" x2="70380" y2="61229"/>
                        <a14:foregroundMark x1="77717" y1="65475" x2="87772" y2="69832"/>
                        <a14:foregroundMark x1="92391" y1="74860" x2="90761" y2="95531"/>
                        <a14:foregroundMark x1="83152" y1="88380" x2="68071" y2="94749"/>
                        <a14:foregroundMark x1="55163" y1="82458" x2="42391" y2="93855"/>
                        <a14:foregroundMark x1="23641" y1="78547" x2="17120" y2="96648"/>
                        <a14:foregroundMark x1="18478" y1="87933" x2="18478" y2="87933"/>
                        <a14:foregroundMark x1="16440" y1="95419" x2="16440" y2="95419"/>
                        <a14:foregroundMark x1="16712" y1="89944" x2="16712" y2="89944"/>
                        <a14:foregroundMark x1="14810" y1="92067" x2="14810" y2="92067"/>
                        <a14:foregroundMark x1="13995" y1="97318" x2="13995" y2="97318"/>
                        <a14:foregroundMark x1="66168" y1="43352" x2="66168" y2="43352"/>
                        <a14:foregroundMark x1="69293" y1="40447" x2="69293" y2="40447"/>
                        <a14:backgroundMark x1="21603" y1="41341" x2="34647" y2="55754"/>
                        <a14:backgroundMark x1="81114" y1="39777" x2="85462" y2="52961"/>
                        <a14:backgroundMark x1="75951" y1="46927" x2="75951" y2="46927"/>
                        <a14:backgroundMark x1="72011" y1="43575" x2="72011" y2="43575"/>
                        <a14:backgroundMark x1="72554" y1="46145" x2="72554" y2="46145"/>
                        <a14:backgroundMark x1="70652" y1="46145" x2="70652" y2="46145"/>
                      </a14:backgroundRemoval>
                    </a14:imgEffect>
                  </a14:imgLayer>
                </a14:imgProps>
              </a:ext>
              <a:ext uri="{28A0092B-C50C-407E-A947-70E740481C1C}">
                <a14:useLocalDpi xmlns:a14="http://schemas.microsoft.com/office/drawing/2010/main" val="0"/>
              </a:ext>
            </a:extLst>
          </a:blip>
          <a:stretch>
            <a:fillRect/>
          </a:stretch>
        </p:blipFill>
        <p:spPr>
          <a:xfrm>
            <a:off x="7479282" y="1713795"/>
            <a:ext cx="5639651" cy="6858000"/>
          </a:xfrm>
          <a:prstGeom prst="rect">
            <a:avLst/>
          </a:prstGeom>
        </p:spPr>
      </p:pic>
      <p:grpSp>
        <p:nvGrpSpPr>
          <p:cNvPr id="21" name="Группа 20"/>
          <p:cNvGrpSpPr/>
          <p:nvPr/>
        </p:nvGrpSpPr>
        <p:grpSpPr>
          <a:xfrm>
            <a:off x="3379987" y="-1788763"/>
            <a:ext cx="6693019" cy="6693019"/>
            <a:chOff x="2733943" y="-1709626"/>
            <a:chExt cx="6693019" cy="6693019"/>
          </a:xfrm>
        </p:grpSpPr>
        <p:pic>
          <p:nvPicPr>
            <p:cNvPr id="9" name="Рисунок 8"/>
            <p:cNvPicPr>
              <a:picLocks noChangeAspect="1"/>
            </p:cNvPicPr>
            <p:nvPr/>
          </p:nvPicPr>
          <p:blipFill>
            <a:blip r:embed="rId6">
              <a:extLst>
                <a:ext uri="{BEBA8EAE-BF5A-486C-A8C5-ECC9F3942E4B}">
                  <a14:imgProps xmlns:a14="http://schemas.microsoft.com/office/drawing/2010/main">
                    <a14:imgLayer r:embed="rId7">
                      <a14:imgEffect>
                        <a14:backgroundRemoval t="10000" b="90000" l="1800" r="97600">
                          <a14:foregroundMark x1="36400" y1="25400" x2="89400" y2="23800"/>
                          <a14:foregroundMark x1="16400" y1="26400" x2="88400" y2="68600"/>
                          <a14:foregroundMark x1="93400" y1="68600" x2="92000" y2="26000"/>
                          <a14:foregroundMark x1="97200" y1="64600" x2="97600" y2="65400"/>
                          <a14:foregroundMark x1="71400" y1="78800" x2="66000" y2="74600"/>
                          <a14:foregroundMark x1="10600" y1="63000" x2="11000" y2="48600"/>
                          <a14:foregroundMark x1="5000" y1="37200" x2="1800" y2="34800"/>
                          <a14:foregroundMark x1="11400" y1="32000" x2="11600" y2="26800"/>
                          <a14:backgroundMark x1="95200" y1="67000" x2="95200" y2="67000"/>
                        </a14:backgroundRemoval>
                      </a14:imgEffect>
                    </a14:imgLayer>
                  </a14:imgProps>
                </a:ext>
                <a:ext uri="{28A0092B-C50C-407E-A947-70E740481C1C}">
                  <a14:useLocalDpi xmlns:a14="http://schemas.microsoft.com/office/drawing/2010/main" val="0"/>
                </a:ext>
              </a:extLst>
            </a:blip>
            <a:stretch>
              <a:fillRect/>
            </a:stretch>
          </p:blipFill>
          <p:spPr>
            <a:xfrm>
              <a:off x="2733943" y="-1709626"/>
              <a:ext cx="6693019" cy="6693019"/>
            </a:xfrm>
            <a:prstGeom prst="rect">
              <a:avLst/>
            </a:prstGeom>
          </p:spPr>
        </p:pic>
        <p:sp>
          <p:nvSpPr>
            <p:cNvPr id="18" name="TextBox 17"/>
            <p:cNvSpPr txBox="1"/>
            <p:nvPr/>
          </p:nvSpPr>
          <p:spPr>
            <a:xfrm>
              <a:off x="4170347" y="380807"/>
              <a:ext cx="4264352" cy="2062103"/>
            </a:xfrm>
            <a:prstGeom prst="rect">
              <a:avLst/>
            </a:prstGeom>
            <a:noFill/>
          </p:spPr>
          <p:txBody>
            <a:bodyPr wrap="square" rtlCol="0">
              <a:spAutoFit/>
            </a:bodyPr>
            <a:lstStyle/>
            <a:p>
              <a:r>
                <a:rPr lang="en-US" sz="3200" i="1" dirty="0">
                  <a:latin typeface="Adobe Garamond Pro Bold" panose="02020702060506020403" pitchFamily="18" charset="0"/>
                </a:rPr>
                <a:t>Observe good faith and </a:t>
              </a:r>
              <a:r>
                <a:rPr lang="en-US" sz="3200" i="1" dirty="0" smtClean="0">
                  <a:latin typeface="Adobe Garamond Pro Bold" panose="02020702060506020403" pitchFamily="18" charset="0"/>
                </a:rPr>
                <a:t>justice </a:t>
              </a:r>
              <a:r>
                <a:rPr lang="en-US" sz="3200" i="1" dirty="0">
                  <a:latin typeface="Adobe Garamond Pro Bold" panose="02020702060506020403" pitchFamily="18" charset="0"/>
                </a:rPr>
                <a:t>toward all nations. Cultivate peace and harmony with all</a:t>
              </a:r>
              <a:endParaRPr lang="ru-RU" sz="3200" i="1" dirty="0"/>
            </a:p>
          </p:txBody>
        </p:sp>
      </p:grpSp>
    </p:spTree>
    <p:extLst>
      <p:ext uri="{BB962C8B-B14F-4D97-AF65-F5344CB8AC3E}">
        <p14:creationId xmlns:p14="http://schemas.microsoft.com/office/powerpoint/2010/main" val="14724964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75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7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34205" y="853749"/>
            <a:ext cx="3424843" cy="646331"/>
          </a:xfrm>
          <a:prstGeom prst="rect">
            <a:avLst/>
          </a:prstGeom>
          <a:noFill/>
        </p:spPr>
        <p:txBody>
          <a:bodyPr wrap="square" rtlCol="0">
            <a:spAutoFit/>
          </a:bodyPr>
          <a:lstStyle/>
          <a:p>
            <a:r>
              <a:rPr lang="en-US" sz="3600" b="1" dirty="0" smtClean="0">
                <a:latin typeface="+mj-lt"/>
              </a:rPr>
              <a:t>In my opinion</a:t>
            </a:r>
            <a:endParaRPr lang="ru-RU" sz="3600" b="1" dirty="0">
              <a:latin typeface="+mj-lt"/>
            </a:endParaRPr>
          </a:p>
        </p:txBody>
      </p:sp>
      <p:cxnSp>
        <p:nvCxnSpPr>
          <p:cNvPr id="9" name="Прямая соединительная линия 8"/>
          <p:cNvCxnSpPr/>
          <p:nvPr/>
        </p:nvCxnSpPr>
        <p:spPr>
          <a:xfrm>
            <a:off x="1728132" y="1500080"/>
            <a:ext cx="3012833" cy="0"/>
          </a:xfrm>
          <a:prstGeom prst="line">
            <a:avLst/>
          </a:prstGeom>
          <a:ln w="19050"/>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609600" y="1698626"/>
            <a:ext cx="5135271" cy="3785652"/>
          </a:xfrm>
          <a:prstGeom prst="rect">
            <a:avLst/>
          </a:prstGeom>
          <a:noFill/>
        </p:spPr>
        <p:txBody>
          <a:bodyPr wrap="square" rtlCol="0">
            <a:spAutoFit/>
          </a:bodyPr>
          <a:lstStyle/>
          <a:p>
            <a:r>
              <a:rPr lang="en-US" sz="2400" dirty="0" smtClean="0"/>
              <a:t>You </a:t>
            </a:r>
            <a:r>
              <a:rPr lang="en-US" sz="2400" dirty="0"/>
              <a:t>can't be happy if you're not in harmony with the people around you. Living in harmony with the people around you sounds easy, but it's actually hard to do, especially in a world full of conflict and disaster. People may have different opinions, and it may be difficult for you to feel in harmony with people close to you and with society in general.</a:t>
            </a:r>
            <a:endParaRPr lang="ru-RU" sz="2400" dirty="0"/>
          </a:p>
        </p:txBody>
      </p:sp>
      <p:pic>
        <p:nvPicPr>
          <p:cNvPr id="8" name="Рисунок 7"/>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t="9213" r="2426" b="16846"/>
          <a:stretch/>
        </p:blipFill>
        <p:spPr>
          <a:xfrm>
            <a:off x="6153299" y="-520700"/>
            <a:ext cx="6064101" cy="7454900"/>
          </a:xfrm>
          <a:prstGeom prst="rect">
            <a:avLst/>
          </a:prstGeom>
        </p:spPr>
      </p:pic>
    </p:spTree>
    <p:extLst>
      <p:ext uri="{BB962C8B-B14F-4D97-AF65-F5344CB8AC3E}">
        <p14:creationId xmlns:p14="http://schemas.microsoft.com/office/powerpoint/2010/main" val="3996693303"/>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252927" y="613083"/>
            <a:ext cx="4929448" cy="1754326"/>
          </a:xfrm>
          <a:prstGeom prst="rect">
            <a:avLst/>
          </a:prstGeom>
          <a:noFill/>
        </p:spPr>
        <p:txBody>
          <a:bodyPr wrap="square" rtlCol="0">
            <a:spAutoFit/>
          </a:bodyPr>
          <a:lstStyle/>
          <a:p>
            <a:pPr algn="ctr"/>
            <a:r>
              <a:rPr lang="en-US" sz="3600" dirty="0"/>
              <a:t>Ways to find harmony </a:t>
            </a:r>
            <a:endParaRPr lang="ru-RU" sz="3600" dirty="0" smtClean="0"/>
          </a:p>
          <a:p>
            <a:pPr algn="ctr"/>
            <a:r>
              <a:rPr lang="en-US" sz="3600" dirty="0" smtClean="0"/>
              <a:t>with others</a:t>
            </a:r>
            <a:endParaRPr lang="ru-RU" sz="3600" dirty="0"/>
          </a:p>
          <a:p>
            <a:endParaRPr lang="ru-RU" sz="3600" b="1" dirty="0">
              <a:latin typeface="+mj-lt"/>
            </a:endParaRPr>
          </a:p>
        </p:txBody>
      </p:sp>
      <p:pic>
        <p:nvPicPr>
          <p:cNvPr id="14" name="Рисунок 13"/>
          <p:cNvPicPr>
            <a:picLocks noChangeAspect="1"/>
          </p:cNvPicPr>
          <p:nvPr/>
        </p:nvPicPr>
        <p:blipFill rotWithShape="1">
          <a:blip r:embed="rId2">
            <a:extLst>
              <a:ext uri="{28A0092B-C50C-407E-A947-70E740481C1C}">
                <a14:useLocalDpi xmlns:a14="http://schemas.microsoft.com/office/drawing/2010/main" val="0"/>
              </a:ext>
            </a:extLst>
          </a:blip>
          <a:srcRect t="12413" r="28713"/>
          <a:stretch/>
        </p:blipFill>
        <p:spPr>
          <a:xfrm>
            <a:off x="0" y="2652069"/>
            <a:ext cx="3423198" cy="4205931"/>
          </a:xfrm>
          <a:prstGeom prst="rect">
            <a:avLst/>
          </a:prstGeom>
        </p:spPr>
      </p:pic>
      <p:grpSp>
        <p:nvGrpSpPr>
          <p:cNvPr id="24" name="Группа 23"/>
          <p:cNvGrpSpPr/>
          <p:nvPr/>
        </p:nvGrpSpPr>
        <p:grpSpPr>
          <a:xfrm>
            <a:off x="3744927" y="2444777"/>
            <a:ext cx="651924" cy="533400"/>
            <a:chOff x="5426076" y="2215316"/>
            <a:chExt cx="651924" cy="533400"/>
          </a:xfrm>
        </p:grpSpPr>
        <p:sp>
          <p:nvSpPr>
            <p:cNvPr id="19" name="Скругленный прямоугольник 18"/>
            <p:cNvSpPr/>
            <p:nvPr/>
          </p:nvSpPr>
          <p:spPr>
            <a:xfrm>
              <a:off x="5426076" y="2257650"/>
              <a:ext cx="508000" cy="491066"/>
            </a:xfrm>
            <a:prstGeom prst="round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3" name="Рисунок 22"/>
            <p:cNvPicPr>
              <a:picLocks noChangeAspect="1"/>
            </p:cNvPicPr>
            <p:nvPr/>
          </p:nvPicPr>
          <p:blipFill>
            <a:blip r:embed="rId3" cstate="print">
              <a:extLst>
                <a:ext uri="{BEBA8EAE-BF5A-486C-A8C5-ECC9F3942E4B}">
                  <a14:imgProps xmlns:a14="http://schemas.microsoft.com/office/drawing/2010/main">
                    <a14:imgLayer r:embed="rId4">
                      <a14:imgEffect>
                        <a14:backgroundRemoval t="2905" b="97401" l="3370" r="97500">
                          <a14:foregroundMark x1="6957" y1="59786" x2="3370" y2="53211"/>
                          <a14:foregroundMark x1="26957" y1="84709" x2="27826" y2="92966"/>
                          <a14:foregroundMark x1="30435" y1="87156" x2="28804" y2="97401"/>
                          <a14:foregroundMark x1="72826" y1="14985" x2="78261" y2="7492"/>
                          <a14:foregroundMark x1="88370" y1="11315" x2="93043" y2="6116"/>
                          <a14:foregroundMark x1="95652" y1="4587" x2="97500" y2="2905"/>
                        </a14:backgroundRemoval>
                      </a14:imgEffect>
                    </a14:imgLayer>
                  </a14:imgProps>
                </a:ext>
                <a:ext uri="{28A0092B-C50C-407E-A947-70E740481C1C}">
                  <a14:useLocalDpi xmlns:a14="http://schemas.microsoft.com/office/drawing/2010/main" val="0"/>
                </a:ext>
              </a:extLst>
            </a:blip>
            <a:stretch>
              <a:fillRect/>
            </a:stretch>
          </p:blipFill>
          <p:spPr>
            <a:xfrm>
              <a:off x="5426076" y="2215316"/>
              <a:ext cx="651924" cy="533400"/>
            </a:xfrm>
            <a:prstGeom prst="rect">
              <a:avLst/>
            </a:prstGeom>
          </p:spPr>
        </p:pic>
      </p:grpSp>
      <p:sp>
        <p:nvSpPr>
          <p:cNvPr id="28" name="TextBox 27"/>
          <p:cNvSpPr txBox="1"/>
          <p:nvPr/>
        </p:nvSpPr>
        <p:spPr>
          <a:xfrm>
            <a:off x="4574655" y="2454957"/>
            <a:ext cx="5637921" cy="523220"/>
          </a:xfrm>
          <a:prstGeom prst="rect">
            <a:avLst/>
          </a:prstGeom>
          <a:noFill/>
        </p:spPr>
        <p:txBody>
          <a:bodyPr wrap="square" rtlCol="0">
            <a:spAutoFit/>
          </a:bodyPr>
          <a:lstStyle/>
          <a:p>
            <a:r>
              <a:rPr lang="en-US" sz="2800" dirty="0" smtClean="0"/>
              <a:t>Maintain </a:t>
            </a:r>
            <a:r>
              <a:rPr lang="en-US" sz="2800" dirty="0"/>
              <a:t>your harmony with </a:t>
            </a:r>
            <a:r>
              <a:rPr lang="en-US" sz="2800" dirty="0" smtClean="0"/>
              <a:t>yourself</a:t>
            </a:r>
            <a:endParaRPr lang="ru-RU" sz="2800" dirty="0"/>
          </a:p>
        </p:txBody>
      </p:sp>
      <p:grpSp>
        <p:nvGrpSpPr>
          <p:cNvPr id="29" name="Группа 28"/>
          <p:cNvGrpSpPr/>
          <p:nvPr/>
        </p:nvGrpSpPr>
        <p:grpSpPr>
          <a:xfrm>
            <a:off x="3748101" y="3239787"/>
            <a:ext cx="651924" cy="533400"/>
            <a:chOff x="5426076" y="2215316"/>
            <a:chExt cx="651924" cy="533400"/>
          </a:xfrm>
        </p:grpSpPr>
        <p:sp>
          <p:nvSpPr>
            <p:cNvPr id="30" name="Скругленный прямоугольник 29"/>
            <p:cNvSpPr/>
            <p:nvPr/>
          </p:nvSpPr>
          <p:spPr>
            <a:xfrm>
              <a:off x="5426076" y="2257650"/>
              <a:ext cx="508000" cy="491066"/>
            </a:xfrm>
            <a:prstGeom prst="round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1" name="Рисунок 30"/>
            <p:cNvPicPr>
              <a:picLocks noChangeAspect="1"/>
            </p:cNvPicPr>
            <p:nvPr/>
          </p:nvPicPr>
          <p:blipFill>
            <a:blip r:embed="rId5" cstate="print">
              <a:extLst>
                <a:ext uri="{BEBA8EAE-BF5A-486C-A8C5-ECC9F3942E4B}">
                  <a14:imgProps xmlns:a14="http://schemas.microsoft.com/office/drawing/2010/main">
                    <a14:imgLayer r:embed="rId4">
                      <a14:imgEffect>
                        <a14:backgroundRemoval t="2905" b="97401" l="3370" r="97500">
                          <a14:foregroundMark x1="6957" y1="59786" x2="3370" y2="53211"/>
                          <a14:foregroundMark x1="26957" y1="84709" x2="27826" y2="92966"/>
                          <a14:foregroundMark x1="30435" y1="87156" x2="28804" y2="97401"/>
                          <a14:foregroundMark x1="72826" y1="14985" x2="78261" y2="7492"/>
                          <a14:foregroundMark x1="88370" y1="11315" x2="93043" y2="6116"/>
                          <a14:foregroundMark x1="95652" y1="4587" x2="97500" y2="2905"/>
                        </a14:backgroundRemoval>
                      </a14:imgEffect>
                    </a14:imgLayer>
                  </a14:imgProps>
                </a:ext>
                <a:ext uri="{28A0092B-C50C-407E-A947-70E740481C1C}">
                  <a14:useLocalDpi xmlns:a14="http://schemas.microsoft.com/office/drawing/2010/main" val="0"/>
                </a:ext>
              </a:extLst>
            </a:blip>
            <a:stretch>
              <a:fillRect/>
            </a:stretch>
          </p:blipFill>
          <p:spPr>
            <a:xfrm>
              <a:off x="5426076" y="2215316"/>
              <a:ext cx="651924" cy="533400"/>
            </a:xfrm>
            <a:prstGeom prst="rect">
              <a:avLst/>
            </a:prstGeom>
          </p:spPr>
        </p:pic>
      </p:grpSp>
      <p:sp>
        <p:nvSpPr>
          <p:cNvPr id="32" name="TextBox 31"/>
          <p:cNvSpPr txBox="1"/>
          <p:nvPr/>
        </p:nvSpPr>
        <p:spPr>
          <a:xfrm>
            <a:off x="4574655" y="4839987"/>
            <a:ext cx="6467296" cy="523220"/>
          </a:xfrm>
          <a:prstGeom prst="rect">
            <a:avLst/>
          </a:prstGeom>
          <a:noFill/>
        </p:spPr>
        <p:txBody>
          <a:bodyPr wrap="square" rtlCol="0">
            <a:spAutoFit/>
          </a:bodyPr>
          <a:lstStyle/>
          <a:p>
            <a:r>
              <a:rPr lang="en-US" sz="2800" dirty="0"/>
              <a:t>Establish good contacts with other people</a:t>
            </a:r>
            <a:endParaRPr lang="ru-RU" sz="2800" dirty="0"/>
          </a:p>
        </p:txBody>
      </p:sp>
      <p:grpSp>
        <p:nvGrpSpPr>
          <p:cNvPr id="33" name="Группа 32"/>
          <p:cNvGrpSpPr/>
          <p:nvPr/>
        </p:nvGrpSpPr>
        <p:grpSpPr>
          <a:xfrm>
            <a:off x="3744927" y="4034797"/>
            <a:ext cx="651924" cy="533400"/>
            <a:chOff x="5426076" y="2215316"/>
            <a:chExt cx="651924" cy="533400"/>
          </a:xfrm>
        </p:grpSpPr>
        <p:sp>
          <p:nvSpPr>
            <p:cNvPr id="34" name="Скругленный прямоугольник 33"/>
            <p:cNvSpPr/>
            <p:nvPr/>
          </p:nvSpPr>
          <p:spPr>
            <a:xfrm>
              <a:off x="5426076" y="2257650"/>
              <a:ext cx="508000" cy="491066"/>
            </a:xfrm>
            <a:prstGeom prst="round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5" name="Рисунок 34"/>
            <p:cNvPicPr>
              <a:picLocks noChangeAspect="1"/>
            </p:cNvPicPr>
            <p:nvPr/>
          </p:nvPicPr>
          <p:blipFill>
            <a:blip r:embed="rId5" cstate="print">
              <a:extLst>
                <a:ext uri="{BEBA8EAE-BF5A-486C-A8C5-ECC9F3942E4B}">
                  <a14:imgProps xmlns:a14="http://schemas.microsoft.com/office/drawing/2010/main">
                    <a14:imgLayer r:embed="rId4">
                      <a14:imgEffect>
                        <a14:backgroundRemoval t="2905" b="97401" l="3370" r="97500">
                          <a14:foregroundMark x1="6957" y1="59786" x2="3370" y2="53211"/>
                          <a14:foregroundMark x1="26957" y1="84709" x2="27826" y2="92966"/>
                          <a14:foregroundMark x1="30435" y1="87156" x2="28804" y2="97401"/>
                          <a14:foregroundMark x1="72826" y1="14985" x2="78261" y2="7492"/>
                          <a14:foregroundMark x1="88370" y1="11315" x2="93043" y2="6116"/>
                          <a14:foregroundMark x1="95652" y1="4587" x2="97500" y2="2905"/>
                        </a14:backgroundRemoval>
                      </a14:imgEffect>
                    </a14:imgLayer>
                  </a14:imgProps>
                </a:ext>
                <a:ext uri="{28A0092B-C50C-407E-A947-70E740481C1C}">
                  <a14:useLocalDpi xmlns:a14="http://schemas.microsoft.com/office/drawing/2010/main" val="0"/>
                </a:ext>
              </a:extLst>
            </a:blip>
            <a:stretch>
              <a:fillRect/>
            </a:stretch>
          </p:blipFill>
          <p:spPr>
            <a:xfrm>
              <a:off x="5426076" y="2215316"/>
              <a:ext cx="651924" cy="533400"/>
            </a:xfrm>
            <a:prstGeom prst="rect">
              <a:avLst/>
            </a:prstGeom>
          </p:spPr>
        </p:pic>
      </p:grpSp>
      <p:sp>
        <p:nvSpPr>
          <p:cNvPr id="36" name="TextBox 35"/>
          <p:cNvSpPr txBox="1"/>
          <p:nvPr/>
        </p:nvSpPr>
        <p:spPr>
          <a:xfrm>
            <a:off x="4574656" y="4061055"/>
            <a:ext cx="6817594" cy="523220"/>
          </a:xfrm>
          <a:prstGeom prst="rect">
            <a:avLst/>
          </a:prstGeom>
          <a:noFill/>
        </p:spPr>
        <p:txBody>
          <a:bodyPr wrap="square" rtlCol="0">
            <a:spAutoFit/>
          </a:bodyPr>
          <a:lstStyle/>
          <a:p>
            <a:r>
              <a:rPr lang="en-US" sz="2800" dirty="0"/>
              <a:t>Overcome differences and disagreements</a:t>
            </a:r>
            <a:endParaRPr lang="ru-RU" sz="2800" dirty="0"/>
          </a:p>
        </p:txBody>
      </p:sp>
      <p:grpSp>
        <p:nvGrpSpPr>
          <p:cNvPr id="37" name="Группа 36"/>
          <p:cNvGrpSpPr/>
          <p:nvPr/>
        </p:nvGrpSpPr>
        <p:grpSpPr>
          <a:xfrm>
            <a:off x="3744927" y="4829807"/>
            <a:ext cx="651924" cy="533400"/>
            <a:chOff x="5426076" y="2215316"/>
            <a:chExt cx="651924" cy="533400"/>
          </a:xfrm>
        </p:grpSpPr>
        <p:sp>
          <p:nvSpPr>
            <p:cNvPr id="38" name="Скругленный прямоугольник 37"/>
            <p:cNvSpPr/>
            <p:nvPr/>
          </p:nvSpPr>
          <p:spPr>
            <a:xfrm>
              <a:off x="5426076" y="2257650"/>
              <a:ext cx="508000" cy="491066"/>
            </a:xfrm>
            <a:prstGeom prst="round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9" name="Рисунок 38"/>
            <p:cNvPicPr>
              <a:picLocks noChangeAspect="1"/>
            </p:cNvPicPr>
            <p:nvPr/>
          </p:nvPicPr>
          <p:blipFill>
            <a:blip r:embed="rId5" cstate="print">
              <a:extLst>
                <a:ext uri="{BEBA8EAE-BF5A-486C-A8C5-ECC9F3942E4B}">
                  <a14:imgProps xmlns:a14="http://schemas.microsoft.com/office/drawing/2010/main">
                    <a14:imgLayer r:embed="rId4">
                      <a14:imgEffect>
                        <a14:backgroundRemoval t="2905" b="97401" l="3370" r="97500">
                          <a14:foregroundMark x1="6957" y1="59786" x2="3370" y2="53211"/>
                          <a14:foregroundMark x1="26957" y1="84709" x2="27826" y2="92966"/>
                          <a14:foregroundMark x1="30435" y1="87156" x2="28804" y2="97401"/>
                          <a14:foregroundMark x1="72826" y1="14985" x2="78261" y2="7492"/>
                          <a14:foregroundMark x1="88370" y1="11315" x2="93043" y2="6116"/>
                          <a14:foregroundMark x1="95652" y1="4587" x2="97500" y2="2905"/>
                        </a14:backgroundRemoval>
                      </a14:imgEffect>
                    </a14:imgLayer>
                  </a14:imgProps>
                </a:ext>
                <a:ext uri="{28A0092B-C50C-407E-A947-70E740481C1C}">
                  <a14:useLocalDpi xmlns:a14="http://schemas.microsoft.com/office/drawing/2010/main" val="0"/>
                </a:ext>
              </a:extLst>
            </a:blip>
            <a:stretch>
              <a:fillRect/>
            </a:stretch>
          </p:blipFill>
          <p:spPr>
            <a:xfrm>
              <a:off x="5426076" y="2215316"/>
              <a:ext cx="651924" cy="533400"/>
            </a:xfrm>
            <a:prstGeom prst="rect">
              <a:avLst/>
            </a:prstGeom>
          </p:spPr>
        </p:pic>
      </p:grpSp>
      <p:sp>
        <p:nvSpPr>
          <p:cNvPr id="40" name="TextBox 39"/>
          <p:cNvSpPr txBox="1"/>
          <p:nvPr/>
        </p:nvSpPr>
        <p:spPr>
          <a:xfrm>
            <a:off x="4574655" y="5600608"/>
            <a:ext cx="6616259" cy="523220"/>
          </a:xfrm>
          <a:prstGeom prst="rect">
            <a:avLst/>
          </a:prstGeom>
          <a:noFill/>
        </p:spPr>
        <p:txBody>
          <a:bodyPr wrap="square" rtlCol="0">
            <a:spAutoFit/>
          </a:bodyPr>
          <a:lstStyle/>
          <a:p>
            <a:r>
              <a:rPr lang="en-US" sz="2800" dirty="0"/>
              <a:t>Work for the benefit of other people</a:t>
            </a:r>
            <a:endParaRPr lang="ru-RU" sz="2800" dirty="0"/>
          </a:p>
        </p:txBody>
      </p:sp>
      <p:cxnSp>
        <p:nvCxnSpPr>
          <p:cNvPr id="43" name="Прямая соединительная линия 42"/>
          <p:cNvCxnSpPr/>
          <p:nvPr/>
        </p:nvCxnSpPr>
        <p:spPr>
          <a:xfrm flipV="1">
            <a:off x="4337108" y="1856732"/>
            <a:ext cx="4570839" cy="294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4574654" y="3229014"/>
            <a:ext cx="6616259" cy="523220"/>
          </a:xfrm>
          <a:prstGeom prst="rect">
            <a:avLst/>
          </a:prstGeom>
          <a:noFill/>
        </p:spPr>
        <p:txBody>
          <a:bodyPr wrap="square" rtlCol="0">
            <a:spAutoFit/>
          </a:bodyPr>
          <a:lstStyle/>
          <a:p>
            <a:r>
              <a:rPr lang="en-US" sz="2800" dirty="0"/>
              <a:t>Be friendly and sociable with others</a:t>
            </a:r>
            <a:endParaRPr lang="ru-RU" sz="2800" dirty="0"/>
          </a:p>
        </p:txBody>
      </p:sp>
      <p:grpSp>
        <p:nvGrpSpPr>
          <p:cNvPr id="27" name="Группа 26"/>
          <p:cNvGrpSpPr/>
          <p:nvPr/>
        </p:nvGrpSpPr>
        <p:grpSpPr>
          <a:xfrm>
            <a:off x="3744927" y="5600608"/>
            <a:ext cx="651924" cy="533400"/>
            <a:chOff x="5426076" y="2215316"/>
            <a:chExt cx="651924" cy="533400"/>
          </a:xfrm>
        </p:grpSpPr>
        <p:sp>
          <p:nvSpPr>
            <p:cNvPr id="42" name="Скругленный прямоугольник 41"/>
            <p:cNvSpPr/>
            <p:nvPr/>
          </p:nvSpPr>
          <p:spPr>
            <a:xfrm>
              <a:off x="5426076" y="2257650"/>
              <a:ext cx="508000" cy="491066"/>
            </a:xfrm>
            <a:prstGeom prst="round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4" name="Рисунок 43"/>
            <p:cNvPicPr>
              <a:picLocks noChangeAspect="1"/>
            </p:cNvPicPr>
            <p:nvPr/>
          </p:nvPicPr>
          <p:blipFill>
            <a:blip r:embed="rId5" cstate="print">
              <a:extLst>
                <a:ext uri="{BEBA8EAE-BF5A-486C-A8C5-ECC9F3942E4B}">
                  <a14:imgProps xmlns:a14="http://schemas.microsoft.com/office/drawing/2010/main">
                    <a14:imgLayer r:embed="rId4">
                      <a14:imgEffect>
                        <a14:backgroundRemoval t="2905" b="97401" l="3370" r="97500">
                          <a14:foregroundMark x1="6957" y1="59786" x2="3370" y2="53211"/>
                          <a14:foregroundMark x1="26957" y1="84709" x2="27826" y2="92966"/>
                          <a14:foregroundMark x1="30435" y1="87156" x2="28804" y2="97401"/>
                          <a14:foregroundMark x1="72826" y1="14985" x2="78261" y2="7492"/>
                          <a14:foregroundMark x1="88370" y1="11315" x2="93043" y2="6116"/>
                          <a14:foregroundMark x1="95652" y1="4587" x2="97500" y2="2905"/>
                        </a14:backgroundRemoval>
                      </a14:imgEffect>
                    </a14:imgLayer>
                  </a14:imgProps>
                </a:ext>
                <a:ext uri="{28A0092B-C50C-407E-A947-70E740481C1C}">
                  <a14:useLocalDpi xmlns:a14="http://schemas.microsoft.com/office/drawing/2010/main" val="0"/>
                </a:ext>
              </a:extLst>
            </a:blip>
            <a:stretch>
              <a:fillRect/>
            </a:stretch>
          </p:blipFill>
          <p:spPr>
            <a:xfrm>
              <a:off x="5426076" y="2215316"/>
              <a:ext cx="651924" cy="533400"/>
            </a:xfrm>
            <a:prstGeom prst="rect">
              <a:avLst/>
            </a:prstGeom>
          </p:spPr>
        </p:pic>
      </p:grpSp>
      <p:pic>
        <p:nvPicPr>
          <p:cNvPr id="45" name="Рисунок 44"/>
          <p:cNvPicPr>
            <a:picLocks noChangeAspect="1"/>
          </p:cNvPicPr>
          <p:nvPr/>
        </p:nvPicPr>
        <p:blipFill>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flipH="1">
            <a:off x="2067746" y="-226380"/>
            <a:ext cx="2185181" cy="2185181"/>
          </a:xfrm>
          <a:prstGeom prst="rect">
            <a:avLst/>
          </a:prstGeom>
        </p:spPr>
      </p:pic>
    </p:spTree>
    <p:extLst>
      <p:ext uri="{BB962C8B-B14F-4D97-AF65-F5344CB8AC3E}">
        <p14:creationId xmlns:p14="http://schemas.microsoft.com/office/powerpoint/2010/main" val="7472208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Рисунок 9"/>
          <p:cNvPicPr>
            <a:picLocks noChangeAspect="1"/>
          </p:cNvPicPr>
          <p:nvPr/>
        </p:nvPicPr>
        <p:blipFill rotWithShape="1">
          <a:blip r:embed="rId2">
            <a:extLst>
              <a:ext uri="{28A0092B-C50C-407E-A947-70E740481C1C}">
                <a14:useLocalDpi xmlns:a14="http://schemas.microsoft.com/office/drawing/2010/main" val="0"/>
              </a:ext>
            </a:extLst>
          </a:blip>
          <a:srcRect l="11691" t="3519" r="22581" b="642"/>
          <a:stretch/>
        </p:blipFill>
        <p:spPr>
          <a:xfrm>
            <a:off x="6456746" y="749291"/>
            <a:ext cx="5314714" cy="5168909"/>
          </a:xfrm>
          <a:prstGeom prst="rect">
            <a:avLst/>
          </a:prstGeom>
        </p:spPr>
      </p:pic>
      <p:sp>
        <p:nvSpPr>
          <p:cNvPr id="12" name="TextBox 11"/>
          <p:cNvSpPr txBox="1"/>
          <p:nvPr/>
        </p:nvSpPr>
        <p:spPr>
          <a:xfrm>
            <a:off x="863600" y="1625585"/>
            <a:ext cx="5135271" cy="3416320"/>
          </a:xfrm>
          <a:prstGeom prst="rect">
            <a:avLst/>
          </a:prstGeom>
          <a:noFill/>
        </p:spPr>
        <p:txBody>
          <a:bodyPr wrap="square" rtlCol="0">
            <a:spAutoFit/>
          </a:bodyPr>
          <a:lstStyle/>
          <a:p>
            <a:r>
              <a:rPr lang="en-US" sz="2400" dirty="0" smtClean="0"/>
              <a:t>You </a:t>
            </a:r>
            <a:r>
              <a:rPr lang="en-US" sz="2400" dirty="0"/>
              <a:t>should start by connecting with friends, family, partners, and </a:t>
            </a:r>
            <a:r>
              <a:rPr lang="en-US" sz="2400" dirty="0" err="1"/>
              <a:t>neighbours</a:t>
            </a:r>
            <a:r>
              <a:rPr lang="en-US" sz="2400" dirty="0"/>
              <a:t>. Focus on dealing with any disharmony in your life in a generous way with people in your community. Make sure you also maintain your own personal sense of harmony, because it will help you feel in harmony with others.</a:t>
            </a:r>
            <a:endParaRPr lang="ru-RU" sz="2400" dirty="0"/>
          </a:p>
        </p:txBody>
      </p:sp>
    </p:spTree>
    <p:extLst>
      <p:ext uri="{BB962C8B-B14F-4D97-AF65-F5344CB8AC3E}">
        <p14:creationId xmlns:p14="http://schemas.microsoft.com/office/powerpoint/2010/main" val="9491840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Рисунок 9"/>
          <p:cNvPicPr>
            <a:picLocks noChangeAspect="1"/>
          </p:cNvPicPr>
          <p:nvPr/>
        </p:nvPicPr>
        <p:blipFill rotWithShape="1">
          <a:blip r:embed="rId2">
            <a:extLst>
              <a:ext uri="{28A0092B-C50C-407E-A947-70E740481C1C}">
                <a14:useLocalDpi xmlns:a14="http://schemas.microsoft.com/office/drawing/2010/main" val="0"/>
              </a:ext>
            </a:extLst>
          </a:blip>
          <a:srcRect l="406" t="21840" r="2227" b="21962"/>
          <a:stretch/>
        </p:blipFill>
        <p:spPr>
          <a:xfrm rot="16200000">
            <a:off x="6536072" y="682813"/>
            <a:ext cx="5168910" cy="5301867"/>
          </a:xfrm>
          <a:prstGeom prst="rect">
            <a:avLst/>
          </a:prstGeom>
        </p:spPr>
      </p:pic>
      <p:sp>
        <p:nvSpPr>
          <p:cNvPr id="11" name="TextBox 10"/>
          <p:cNvSpPr txBox="1"/>
          <p:nvPr/>
        </p:nvSpPr>
        <p:spPr>
          <a:xfrm>
            <a:off x="952500" y="1491719"/>
            <a:ext cx="5135271" cy="3785652"/>
          </a:xfrm>
          <a:prstGeom prst="rect">
            <a:avLst/>
          </a:prstGeom>
          <a:noFill/>
        </p:spPr>
        <p:txBody>
          <a:bodyPr wrap="square" rtlCol="0">
            <a:spAutoFit/>
          </a:bodyPr>
          <a:lstStyle/>
          <a:p>
            <a:r>
              <a:rPr lang="en-US" sz="2400" dirty="0"/>
              <a:t>Be open to compromise. Sometimes, things just don't go your way. You may need to find common ground with someone you do not agree with or let go of your pride and accept a compromise</a:t>
            </a:r>
            <a:r>
              <a:rPr lang="en-US" sz="2400" dirty="0" smtClean="0"/>
              <a:t>.</a:t>
            </a:r>
            <a:r>
              <a:rPr lang="ru-RU" sz="2400" dirty="0" smtClean="0"/>
              <a:t> </a:t>
            </a:r>
          </a:p>
          <a:p>
            <a:r>
              <a:rPr lang="en-US" sz="2400" dirty="0" smtClean="0"/>
              <a:t>Spend </a:t>
            </a:r>
            <a:r>
              <a:rPr lang="en-US" sz="2400" dirty="0"/>
              <a:t>time with good friends to stay in touch with them and not get lost. </a:t>
            </a:r>
            <a:endParaRPr lang="ru-RU" sz="2400" dirty="0" smtClean="0"/>
          </a:p>
          <a:p>
            <a:r>
              <a:rPr lang="en-US" sz="2400" dirty="0" smtClean="0"/>
              <a:t>Try </a:t>
            </a:r>
            <a:r>
              <a:rPr lang="en-US" sz="2400" dirty="0"/>
              <a:t>to make the time spent with your family meaningful and memorable.</a:t>
            </a:r>
            <a:endParaRPr lang="ru-RU" sz="2400" dirty="0"/>
          </a:p>
        </p:txBody>
      </p:sp>
    </p:spTree>
    <p:extLst>
      <p:ext uri="{BB962C8B-B14F-4D97-AF65-F5344CB8AC3E}">
        <p14:creationId xmlns:p14="http://schemas.microsoft.com/office/powerpoint/2010/main" val="4080061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9100" y="457199"/>
            <a:ext cx="5031422" cy="5901961"/>
          </a:xfrm>
          <a:prstGeom prst="rect">
            <a:avLst/>
          </a:prstGeom>
        </p:spPr>
      </p:pic>
      <p:sp>
        <p:nvSpPr>
          <p:cNvPr id="11" name="TextBox 10"/>
          <p:cNvSpPr txBox="1"/>
          <p:nvPr/>
        </p:nvSpPr>
        <p:spPr>
          <a:xfrm>
            <a:off x="977900" y="1977320"/>
            <a:ext cx="5135271" cy="2308324"/>
          </a:xfrm>
          <a:prstGeom prst="rect">
            <a:avLst/>
          </a:prstGeom>
          <a:noFill/>
        </p:spPr>
        <p:txBody>
          <a:bodyPr wrap="square" rtlCol="0">
            <a:spAutoFit/>
          </a:bodyPr>
          <a:lstStyle/>
          <a:p>
            <a:r>
              <a:rPr lang="en-US" sz="2400" dirty="0"/>
              <a:t>Help a neighbor, friend, or family member in need. Take care of others by offering them help when they need it. Help them without expecting a return favor or reward in order to feel a more noble connection with them.</a:t>
            </a:r>
            <a:endParaRPr lang="ru-RU" sz="2400" dirty="0"/>
          </a:p>
        </p:txBody>
      </p:sp>
    </p:spTree>
    <p:extLst>
      <p:ext uri="{BB962C8B-B14F-4D97-AF65-F5344CB8AC3E}">
        <p14:creationId xmlns:p14="http://schemas.microsoft.com/office/powerpoint/2010/main" val="395250012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77228" y="254000"/>
            <a:ext cx="5031771" cy="6282726"/>
          </a:xfrm>
        </p:spPr>
      </p:pic>
      <p:sp>
        <p:nvSpPr>
          <p:cNvPr id="5" name="TextBox 4"/>
          <p:cNvSpPr txBox="1"/>
          <p:nvPr/>
        </p:nvSpPr>
        <p:spPr>
          <a:xfrm>
            <a:off x="2100563" y="5524501"/>
            <a:ext cx="7785100" cy="830997"/>
          </a:xfrm>
          <a:prstGeom prst="rect">
            <a:avLst/>
          </a:prstGeom>
          <a:solidFill>
            <a:schemeClr val="bg2">
              <a:lumMod val="50000"/>
            </a:schemeClr>
          </a:solidFill>
          <a:ln>
            <a:solidFill>
              <a:schemeClr val="tx1"/>
            </a:solidFill>
          </a:ln>
        </p:spPr>
        <p:txBody>
          <a:bodyPr wrap="square" rtlCol="0">
            <a:spAutoFit/>
          </a:bodyPr>
          <a:lstStyle/>
          <a:p>
            <a:r>
              <a:rPr lang="en-US" sz="2400" dirty="0">
                <a:latin typeface="Copperplate Gothic Bold" panose="020E0705020206020404" pitchFamily="34" charset="0"/>
              </a:rPr>
              <a:t>These little pieces of advice can help you be in harmony with people around you.</a:t>
            </a:r>
            <a:endParaRPr lang="ru-RU" sz="2400" dirty="0"/>
          </a:p>
        </p:txBody>
      </p:sp>
    </p:spTree>
    <p:extLst>
      <p:ext uri="{BB962C8B-B14F-4D97-AF65-F5344CB8AC3E}">
        <p14:creationId xmlns:p14="http://schemas.microsoft.com/office/powerpoint/2010/main" val="4105483572"/>
      </p:ext>
    </p:extLst>
  </p:cSld>
  <p:clrMapOvr>
    <a:masterClrMapping/>
  </p:clrMapOvr>
  <mc:AlternateContent xmlns:mc="http://schemas.openxmlformats.org/markup-compatibility/2006">
    <mc:Choice xmlns:p14="http://schemas.microsoft.com/office/powerpoint/2010/main" Requires="p14">
      <p:transition spd="slow" p14:dur="1250">
        <p:circle/>
      </p:transition>
    </mc:Choice>
    <mc:Fallback>
      <p:transition spd="slow">
        <p:circl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a:picLocks noChangeAspect="1"/>
          </p:cNvPicPr>
          <p:nvPr/>
        </p:nvPicPr>
        <p:blipFill rotWithShape="1">
          <a:blip r:embed="rId2">
            <a:extLst>
              <a:ext uri="{28A0092B-C50C-407E-A947-70E740481C1C}">
                <a14:useLocalDpi xmlns:a14="http://schemas.microsoft.com/office/drawing/2010/main" val="0"/>
              </a:ext>
            </a:extLst>
          </a:blip>
          <a:srcRect r="-227" b="15044"/>
          <a:stretch/>
        </p:blipFill>
        <p:spPr>
          <a:xfrm>
            <a:off x="-141316" y="-59132"/>
            <a:ext cx="12485716" cy="7055574"/>
          </a:xfrm>
          <a:prstGeom prst="rect">
            <a:avLst/>
          </a:prstGeom>
        </p:spPr>
      </p:pic>
      <p:pic>
        <p:nvPicPr>
          <p:cNvPr id="6" name="Рисунок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0888" y="147551"/>
            <a:ext cx="8836429" cy="6627322"/>
          </a:xfrm>
          <a:prstGeom prst="rect">
            <a:avLst/>
          </a:prstGeom>
        </p:spPr>
      </p:pic>
    </p:spTree>
    <p:extLst>
      <p:ext uri="{BB962C8B-B14F-4D97-AF65-F5344CB8AC3E}">
        <p14:creationId xmlns:p14="http://schemas.microsoft.com/office/powerpoint/2010/main" val="2774574185"/>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1561</TotalTime>
  <Words>315</Words>
  <Application>Microsoft Office PowerPoint</Application>
  <PresentationFormat>Широкоэкранный</PresentationFormat>
  <Paragraphs>19</Paragraphs>
  <Slides>9</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9</vt:i4>
      </vt:variant>
    </vt:vector>
  </HeadingPairs>
  <TitlesOfParts>
    <vt:vector size="16" baseType="lpstr">
      <vt:lpstr>Adobe Garamond Pro Bold</vt:lpstr>
      <vt:lpstr>Arial</vt:lpstr>
      <vt:lpstr>Calibri</vt:lpstr>
      <vt:lpstr>Calibri Light</vt:lpstr>
      <vt:lpstr>CoffeeMan Aged</vt:lpstr>
      <vt:lpstr>Copperplate Gothic Bold</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comp-8</dc:creator>
  <cp:lastModifiedBy>comp-8</cp:lastModifiedBy>
  <cp:revision>42</cp:revision>
  <dcterms:created xsi:type="dcterms:W3CDTF">2025-10-22T07:47:22Z</dcterms:created>
  <dcterms:modified xsi:type="dcterms:W3CDTF">2025-12-16T14:05:34Z</dcterms:modified>
</cp:coreProperties>
</file>