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docProps/core1.xml" ContentType="application/vnd.openxmlformats-package.core-propertie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heme/theme6.xml" ContentType="application/vnd.openxmlformats-officedocument.theme+xml"/>
  <Override PartName="/ppt/theme/theme7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Default Extension="png" ContentType="image/png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drawings/drawing1.xml" ContentType="application/vnd.openxmlformats-officedocument.drawingml.chartshap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1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6" r:id="rId3"/>
    <p:sldMasterId id="2147483668" r:id="rId4"/>
    <p:sldMasterId id="2147483670" r:id="rId5"/>
    <p:sldMasterId id="2147483672" r:id="rId6"/>
    <p:sldMasterId id="2147483686" r:id="rId7"/>
    <p:sldMasterId id="2147483702" r:id="rId8"/>
  </p:sldMasterIdLst>
  <p:notesMasterIdLst>
    <p:notesMasterId r:id="rId24"/>
  </p:notesMasterIdLst>
  <p:sldIdLst>
    <p:sldId id="256" r:id="rId9"/>
    <p:sldId id="260" r:id="rId10"/>
    <p:sldId id="257" r:id="rId11"/>
    <p:sldId id="258" r:id="rId12"/>
    <p:sldId id="259" r:id="rId13"/>
    <p:sldId id="261" r:id="rId14"/>
    <p:sldId id="262" r:id="rId15"/>
    <p:sldId id="263" r:id="rId16"/>
    <p:sldId id="264" r:id="rId17"/>
    <p:sldId id="268" r:id="rId18"/>
    <p:sldId id="269" r:id="rId19"/>
    <p:sldId id="266" r:id="rId20"/>
    <p:sldId id="265" r:id="rId21"/>
    <p:sldId id="267" r:id="rId22"/>
    <p:sldId id="270" r:id="rId23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207" d="100"/>
          <a:sy n="207" d="100"/>
        </p:scale>
        <p:origin x="-774" y="-9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_____Microsoft_Office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Office_Excel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tx>
        <c:rich>
          <a:bodyPr/>
          <a:lstStyle/>
          <a:p>
            <a:pPr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Наиболее часто используемые сокращения в деловой переписке</a:t>
            </a:r>
          </a:p>
        </c:rich>
      </c:tx>
      <c:layout>
        <c:manualLayout>
          <c:xMode val="edge"/>
          <c:yMode val="edge"/>
          <c:x val="8.0270833333333347E-2"/>
          <c:y val="1.8750000000000006E-2"/>
        </c:manualLayout>
      </c:layout>
    </c:title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Наиболее часто используемые сокращения в деловой переписке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dPt>
            <c:idx val="0"/>
            <c:spPr>
              <a:solidFill>
                <a:schemeClr val="accent1">
                  <a:lumMod val="60000"/>
                  <a:lumOff val="40000"/>
                </a:schemeClr>
              </a:solidFill>
            </c:spPr>
          </c:dPt>
          <c:dPt>
            <c:idx val="1"/>
            <c:spPr>
              <a:solidFill>
                <a:schemeClr val="accent2">
                  <a:lumMod val="20000"/>
                  <a:lumOff val="80000"/>
                </a:schemeClr>
              </a:solidFill>
            </c:spPr>
          </c:dPt>
          <c:dPt>
            <c:idx val="2"/>
            <c:spPr>
              <a:solidFill>
                <a:schemeClr val="accent1">
                  <a:lumMod val="75000"/>
                </a:schemeClr>
              </a:solidFill>
            </c:spPr>
          </c:dPt>
          <c:dPt>
            <c:idx val="3"/>
            <c:spPr>
              <a:solidFill>
                <a:schemeClr val="accent3">
                  <a:lumMod val="75000"/>
                </a:schemeClr>
              </a:solidFill>
            </c:spPr>
          </c:dPt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Val val="1"/>
            <c:showLeaderLines val="1"/>
          </c:dLbls>
          <c:cat>
            <c:strRef>
              <c:f>Лист1!$A$2:$A$6</c:f>
              <c:strCache>
                <c:ptCount val="5"/>
                <c:pt idx="0">
                  <c:v>ASAP</c:v>
                </c:pt>
                <c:pt idx="1">
                  <c:v>FYI</c:v>
                </c:pt>
                <c:pt idx="2">
                  <c:v>EOD</c:v>
                </c:pt>
                <c:pt idx="3">
                  <c:v>TBD</c:v>
                </c:pt>
                <c:pt idx="4">
                  <c:v>BTW</c:v>
                </c:pt>
              </c:strCache>
            </c:strRef>
          </c:cat>
          <c:val>
            <c:numRef>
              <c:f>Лист1!$B$2:$B$6</c:f>
              <c:numCache>
                <c:formatCode>0%</c:formatCode>
                <c:ptCount val="5"/>
                <c:pt idx="0">
                  <c:v>0.3600000000000001</c:v>
                </c:pt>
                <c:pt idx="1">
                  <c:v>0.25</c:v>
                </c:pt>
                <c:pt idx="2">
                  <c:v>0.18000000000000005</c:v>
                </c:pt>
                <c:pt idx="3">
                  <c:v>0.13</c:v>
                </c:pt>
                <c:pt idx="4">
                  <c:v>8.0000000000000029E-2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76225196850393728"/>
          <c:y val="0.38927411417322832"/>
          <c:w val="0.14575311679790032"/>
          <c:h val="0.40211860236220492"/>
        </c:manualLayout>
      </c:layout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tx>
        <c:rich>
          <a:bodyPr/>
          <a:lstStyle/>
          <a:p>
            <a:pPr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Наиболее часто используемые сокращения в неформальной переписке</a:t>
            </a:r>
          </a:p>
        </c:rich>
      </c:tx>
      <c:layout>
        <c:manualLayout>
          <c:xMode val="edge"/>
          <c:yMode val="edge"/>
          <c:x val="8.8362780944488628E-2"/>
          <c:y val="1.8749999999999999E-2"/>
        </c:manualLayout>
      </c:layout>
    </c:title>
    <c:plotArea>
      <c:layout>
        <c:manualLayout>
          <c:layoutTarget val="inner"/>
          <c:xMode val="edge"/>
          <c:yMode val="edge"/>
          <c:x val="0.17681532554285143"/>
          <c:y val="0.29781250000000009"/>
          <c:w val="0.42648829187990656"/>
          <c:h val="0.59975000000000001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Наиболее часто используемые сокращения в неформальной переписке</c:v>
                </c:pt>
              </c:strCache>
            </c:strRef>
          </c:tx>
          <c:dPt>
            <c:idx val="4"/>
            <c:spPr>
              <a:solidFill>
                <a:schemeClr val="accent2">
                  <a:lumMod val="20000"/>
                  <a:lumOff val="80000"/>
                </a:schemeClr>
              </a:solidFill>
            </c:spPr>
          </c:dPt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Val val="1"/>
            <c:showLeaderLines val="1"/>
          </c:dLbls>
          <c:cat>
            <c:strRef>
              <c:f>Лист1!$A$2:$A$6</c:f>
              <c:strCache>
                <c:ptCount val="5"/>
                <c:pt idx="0">
                  <c:v>THX</c:v>
                </c:pt>
                <c:pt idx="1">
                  <c:v>NP</c:v>
                </c:pt>
                <c:pt idx="2">
                  <c:v>BRB</c:v>
                </c:pt>
                <c:pt idx="3">
                  <c:v>LOL</c:v>
                </c:pt>
                <c:pt idx="4">
                  <c:v>OMG</c:v>
                </c:pt>
              </c:strCache>
            </c:strRef>
          </c:cat>
          <c:val>
            <c:numRef>
              <c:f>Лист1!$B$2:$B$6</c:f>
              <c:numCache>
                <c:formatCode>0%</c:formatCode>
                <c:ptCount val="5"/>
                <c:pt idx="0">
                  <c:v>0.29000000000000009</c:v>
                </c:pt>
                <c:pt idx="1">
                  <c:v>0.26</c:v>
                </c:pt>
                <c:pt idx="2">
                  <c:v>0.17</c:v>
                </c:pt>
                <c:pt idx="3">
                  <c:v>0.16</c:v>
                </c:pt>
                <c:pt idx="4">
                  <c:v>0.12000000000000002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74910953755445353"/>
          <c:y val="0.38743823818897638"/>
          <c:w val="0.14654765137686601"/>
          <c:h val="0.40211860236220492"/>
        </c:manualLayout>
      </c:layout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ru-RU"/>
  <c:chart>
    <c:title>
      <c:tx>
        <c:rich>
          <a:bodyPr/>
          <a:lstStyle/>
          <a:p>
            <a:pPr>
              <a:defRPr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Наиболее часто используемые сокращения в образовательной переписке</a:t>
            </a:r>
          </a:p>
        </c:rich>
      </c:tx>
      <c:layout>
        <c:manualLayout>
          <c:xMode val="edge"/>
          <c:yMode val="edge"/>
          <c:x val="0.10707808398950133"/>
          <c:y val="1.8749999999999999E-2"/>
        </c:manualLayout>
      </c:layout>
    </c:title>
    <c:plotArea>
      <c:layout>
        <c:manualLayout>
          <c:layoutTarget val="inner"/>
          <c:xMode val="edge"/>
          <c:yMode val="edge"/>
          <c:x val="0.24684990157480322"/>
          <c:y val="0.31656250000000008"/>
          <c:w val="0.3977500000000001"/>
          <c:h val="0.59662499999999996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Наиболее часто используемые сокращения в образовательной переписке</c:v>
                </c:pt>
              </c:strCache>
            </c:strRef>
          </c:tx>
          <c:dPt>
            <c:idx val="1"/>
            <c:spPr>
              <a:solidFill>
                <a:schemeClr val="accent3">
                  <a:lumMod val="20000"/>
                  <a:lumOff val="80000"/>
                </a:schemeClr>
              </a:solidFill>
            </c:spPr>
          </c:dPt>
          <c:dPt>
            <c:idx val="4"/>
            <c:spPr>
              <a:solidFill>
                <a:schemeClr val="accent3">
                  <a:lumMod val="75000"/>
                </a:schemeClr>
              </a:solidFill>
            </c:spPr>
          </c:dPt>
          <c:dLbls>
            <c:dLbl>
              <c:idx val="0"/>
              <c:layout/>
              <c:showVal val="1"/>
            </c:dLbl>
            <c:dLbl>
              <c:idx val="2"/>
              <c:layout/>
              <c:showVal val="1"/>
            </c:dLbl>
            <c:dLbl>
              <c:idx val="3"/>
              <c:layout/>
              <c:showVal val="1"/>
            </c:dLbl>
            <c:dLbl>
              <c:idx val="4"/>
              <c:layout/>
              <c:showVal val="1"/>
            </c:dLbl>
            <c:delete val="1"/>
          </c:dLbls>
          <c:cat>
            <c:strRef>
              <c:f>Лист1!$A$2:$A$6</c:f>
              <c:strCache>
                <c:ptCount val="5"/>
                <c:pt idx="0">
                  <c:v>HW</c:v>
                </c:pt>
                <c:pt idx="1">
                  <c:v>FAQ</c:v>
                </c:pt>
                <c:pt idx="2">
                  <c:v>ETA</c:v>
                </c:pt>
                <c:pt idx="3">
                  <c:v>TBA</c:v>
                </c:pt>
                <c:pt idx="4">
                  <c:v>P.S</c:v>
                </c:pt>
              </c:strCache>
            </c:strRef>
          </c:cat>
          <c:val>
            <c:numRef>
              <c:f>Лист1!$B$2:$B$6</c:f>
              <c:numCache>
                <c:formatCode>0%</c:formatCode>
                <c:ptCount val="5"/>
                <c:pt idx="0">
                  <c:v>0.4</c:v>
                </c:pt>
                <c:pt idx="1">
                  <c:v>0.19</c:v>
                </c:pt>
                <c:pt idx="2">
                  <c:v>0.16</c:v>
                </c:pt>
                <c:pt idx="3">
                  <c:v>0.13</c:v>
                </c:pt>
                <c:pt idx="4">
                  <c:v>0.12000000000000001</c:v>
                </c:pt>
              </c:numCache>
            </c:numRef>
          </c:val>
        </c:ser>
        <c:firstSliceAng val="0"/>
      </c:pieChart>
    </c:plotArea>
    <c:legend>
      <c:legendPos val="r"/>
      <c:layout>
        <c:manualLayout>
          <c:xMode val="edge"/>
          <c:yMode val="edge"/>
          <c:x val="0.79769980314960653"/>
          <c:y val="0.42493823818897636"/>
          <c:w val="0.12487811679790024"/>
          <c:h val="0.40211860236220487"/>
        </c:manualLayout>
      </c:layout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</c:chart>
  <c:txPr>
    <a:bodyPr/>
    <a:lstStyle/>
    <a:p>
      <a:pPr>
        <a:defRPr sz="1800"/>
      </a:pPr>
      <a:endParaRPr lang="ru-RU"/>
    </a:p>
  </c:txPr>
  <c:externalData r:id="rId1"/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layout/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title>
    <c:plotArea>
      <c:layout>
        <c:manualLayout>
          <c:layoutTarget val="inner"/>
          <c:xMode val="edge"/>
          <c:yMode val="edge"/>
          <c:x val="6.5594816272965872E-2"/>
          <c:y val="0.1866405019685039"/>
          <c:w val="0.52249475065616802"/>
          <c:h val="0.71371899606299227"/>
        </c:manualLayout>
      </c:layout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Носители языка</c:v>
                </c:pt>
              </c:strCache>
            </c:strRef>
          </c:tx>
          <c:spPr>
            <a:solidFill>
              <a:schemeClr val="accent3">
                <a:lumMod val="40000"/>
                <a:lumOff val="60000"/>
              </a:schemeClr>
            </a:solidFill>
          </c:spPr>
          <c:dPt>
            <c:idx val="0"/>
            <c:spPr>
              <a:solidFill>
                <a:schemeClr val="accent3">
                  <a:lumMod val="75000"/>
                </a:schemeClr>
              </a:solidFill>
            </c:spPr>
          </c:dPt>
          <c:dPt>
            <c:idx val="1"/>
            <c:spPr>
              <a:solidFill>
                <a:schemeClr val="accent3">
                  <a:lumMod val="60000"/>
                  <a:lumOff val="40000"/>
                </a:schemeClr>
              </a:solidFill>
            </c:spPr>
          </c:dPt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Val val="1"/>
            <c:showLeaderLines val="1"/>
          </c:dLbls>
          <c:cat>
            <c:strRef>
              <c:f>Лист1!$A$2:$A$5</c:f>
              <c:strCache>
                <c:ptCount val="3"/>
                <c:pt idx="0">
                  <c:v>Используют сокращения часто</c:v>
                </c:pt>
                <c:pt idx="1">
                  <c:v>Считают что сокращения усложняют понимание</c:v>
                </c:pt>
                <c:pt idx="2">
                  <c:v>Сталкивались с непониманием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0">
                  <c:v>0.75000000000000011</c:v>
                </c:pt>
                <c:pt idx="1">
                  <c:v>0.15000000000000002</c:v>
                </c:pt>
                <c:pt idx="2">
                  <c:v>0.1</c:v>
                </c:pt>
              </c:numCache>
            </c:numRef>
          </c:val>
        </c:ser>
        <c:firstSliceAng val="0"/>
      </c:pieChart>
    </c:plotArea>
    <c:legend>
      <c:legendPos val="r"/>
      <c:layout/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ru-RU"/>
  <c:chart>
    <c:title>
      <c:layout>
        <c:manualLayout>
          <c:xMode val="edge"/>
          <c:yMode val="edge"/>
          <c:x val="0.30328116797900273"/>
          <c:y val="1.8749999999999999E-2"/>
        </c:manualLayout>
      </c:layout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title>
    <c:view3D>
      <c:rotX val="30"/>
      <c:perspective val="30"/>
    </c:view3D>
    <c:plotArea>
      <c:layout/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Изучающие язык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</c:spPr>
          <c:explosion val="25"/>
          <c:dPt>
            <c:idx val="0"/>
            <c:spPr>
              <a:solidFill>
                <a:schemeClr val="accent2">
                  <a:lumMod val="75000"/>
                </a:schemeClr>
              </a:solidFill>
            </c:spPr>
          </c:dPt>
          <c:dPt>
            <c:idx val="2"/>
            <c:spPr>
              <a:solidFill>
                <a:schemeClr val="accent3">
                  <a:lumMod val="20000"/>
                  <a:lumOff val="80000"/>
                </a:schemeClr>
              </a:solidFill>
            </c:spPr>
          </c:dPt>
          <c:dLbls>
            <c:txPr>
              <a:bodyPr/>
              <a:lstStyle/>
              <a:p>
                <a:pPr>
                  <a:defRPr>
                    <a:latin typeface="Times New Roman" pitchFamily="18" charset="0"/>
                    <a:cs typeface="Times New Roman" pitchFamily="18" charset="0"/>
                  </a:defRPr>
                </a:pPr>
                <a:endParaRPr lang="ru-RU"/>
              </a:p>
            </c:txPr>
            <c:showVal val="1"/>
            <c:showLeaderLines val="1"/>
          </c:dLbls>
          <c:cat>
            <c:strRef>
              <c:f>Лист1!$A$2:$A$5</c:f>
              <c:strCache>
                <c:ptCount val="3"/>
                <c:pt idx="0">
                  <c:v>Используют сокращения часто</c:v>
                </c:pt>
                <c:pt idx="1">
                  <c:v>Считают что сокращения усложняют понимание</c:v>
                </c:pt>
                <c:pt idx="2">
                  <c:v>Сталкивались с непониманием</c:v>
                </c:pt>
              </c:strCache>
            </c:strRef>
          </c:cat>
          <c:val>
            <c:numRef>
              <c:f>Лист1!$B$2:$B$5</c:f>
              <c:numCache>
                <c:formatCode>0%</c:formatCode>
                <c:ptCount val="4"/>
                <c:pt idx="0">
                  <c:v>0.49000000000000005</c:v>
                </c:pt>
                <c:pt idx="1">
                  <c:v>0.23</c:v>
                </c:pt>
                <c:pt idx="2">
                  <c:v>0.28000000000000008</c:v>
                </c:pt>
              </c:numCache>
            </c:numRef>
          </c:val>
        </c:ser>
      </c:pie3DChart>
    </c:plotArea>
    <c:legend>
      <c:legendPos val="r"/>
      <c:layout/>
      <c:txPr>
        <a:bodyPr/>
        <a:lstStyle/>
        <a:p>
          <a:pPr>
            <a:defRPr>
              <a:latin typeface="Times New Roman" pitchFamily="18" charset="0"/>
              <a:cs typeface="Times New Roman" pitchFamily="18" charset="0"/>
            </a:defRPr>
          </a:pPr>
          <a:endParaRPr lang="ru-RU"/>
        </a:p>
      </c:txPr>
    </c:legend>
    <c:plotVisOnly val="1"/>
  </c:chart>
  <c:txPr>
    <a:bodyPr/>
    <a:lstStyle/>
    <a:p>
      <a:pPr>
        <a:defRPr sz="1800"/>
      </a:pPr>
      <a:endParaRPr lang="ru-RU"/>
    </a:p>
  </c:txPr>
  <c:externalData r:id="rId1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0.39844</cdr:x>
      <cdr:y>0.75586</cdr:y>
    </cdr:from>
    <cdr:to>
      <cdr:x>0.51563</cdr:x>
      <cdr:y>0.82618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2428892" y="3071834"/>
          <a:ext cx="714380" cy="2857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pPr algn="ctr"/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19%</a:t>
          </a:r>
          <a:endParaRPr lang="ru-RU" sz="1100" dirty="0">
            <a:latin typeface="Times New Roman" pitchFamily="18" charset="0"/>
            <a:cs typeface="Times New Roman" pitchFamily="18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F961DB-5276-4D99-B9D4-96AE8169F826}" type="datetimeFigureOut">
              <a:rPr lang="ru-RU" smtClean="0"/>
              <a:pPr/>
              <a:t>11.03.2025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8048-29F4-435B-A5F8-F44D6234D60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9;p2"/>
          <p:cNvSpPr/>
          <p:nvPr/>
        </p:nvSpPr>
        <p:spPr>
          <a:xfrm>
            <a:off x="8341920" y="46440"/>
            <a:ext cx="731160" cy="767520"/>
          </a:xfrm>
          <a:prstGeom prst="star10">
            <a:avLst>
              <a:gd name="adj" fmla="val 17041"/>
              <a:gd name="hf" fmla="val 105146"/>
            </a:avLst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7040" bIns="770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pic>
        <p:nvPicPr>
          <p:cNvPr id="43" name="Google Shape;10;p2"/>
          <p:cNvPicPr/>
          <p:nvPr/>
        </p:nvPicPr>
        <p:blipFill>
          <a:blip r:embed="rId3" cstate="print"/>
          <a:srcRect l="25238" r="24663"/>
          <a:stretch/>
        </p:blipFill>
        <p:spPr>
          <a:xfrm flipH="1">
            <a:off x="-358920" y="-484200"/>
            <a:ext cx="1732320" cy="1828440"/>
          </a:xfrm>
          <a:prstGeom prst="rect">
            <a:avLst/>
          </a:prstGeom>
          <a:ln w="0">
            <a:noFill/>
          </a:ln>
        </p:spPr>
      </p:pic>
      <p:pic>
        <p:nvPicPr>
          <p:cNvPr id="2" name="Google Shape;11;p2"/>
          <p:cNvPicPr/>
          <p:nvPr/>
        </p:nvPicPr>
        <p:blipFill>
          <a:blip r:embed="rId4" cstate="print"/>
          <a:srcRect l="15575" r="17319"/>
          <a:stretch/>
        </p:blipFill>
        <p:spPr>
          <a:xfrm rot="7309200">
            <a:off x="7873200" y="3692160"/>
            <a:ext cx="2324520" cy="1828440"/>
          </a:xfrm>
          <a:prstGeom prst="rect">
            <a:avLst/>
          </a:prstGeom>
          <a:ln w="0">
            <a:noFill/>
          </a:ln>
        </p:spPr>
      </p:pic>
      <p:grpSp>
        <p:nvGrpSpPr>
          <p:cNvPr id="3" name="Google Shape;12;p2"/>
          <p:cNvGrpSpPr/>
          <p:nvPr/>
        </p:nvGrpSpPr>
        <p:grpSpPr>
          <a:xfrm>
            <a:off x="241920" y="185040"/>
            <a:ext cx="8602560" cy="2913480"/>
            <a:chOff x="241920" y="185040"/>
            <a:chExt cx="8602560" cy="2913480"/>
          </a:xfrm>
        </p:grpSpPr>
        <p:sp>
          <p:nvSpPr>
            <p:cNvPr id="4" name="Google Shape;13;p2"/>
            <p:cNvSpPr/>
            <p:nvPr/>
          </p:nvSpPr>
          <p:spPr>
            <a:xfrm>
              <a:off x="241920" y="174816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" name="Google Shape;14;p2"/>
            <p:cNvSpPr/>
            <p:nvPr/>
          </p:nvSpPr>
          <p:spPr>
            <a:xfrm>
              <a:off x="6123960" y="18504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" name="Google Shape;15;p2"/>
            <p:cNvSpPr/>
            <p:nvPr/>
          </p:nvSpPr>
          <p:spPr>
            <a:xfrm>
              <a:off x="8570520" y="282456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7" name="Google Shape;16;p2"/>
          <p:cNvGrpSpPr/>
          <p:nvPr/>
        </p:nvGrpSpPr>
        <p:grpSpPr>
          <a:xfrm>
            <a:off x="2450520" y="305640"/>
            <a:ext cx="2258280" cy="4574880"/>
            <a:chOff x="2450520" y="305640"/>
            <a:chExt cx="2258280" cy="4574880"/>
          </a:xfrm>
        </p:grpSpPr>
        <p:grpSp>
          <p:nvGrpSpPr>
            <p:cNvPr id="8" name="Google Shape;17;p2"/>
            <p:cNvGrpSpPr/>
            <p:nvPr/>
          </p:nvGrpSpPr>
          <p:grpSpPr>
            <a:xfrm>
              <a:off x="2450520" y="305640"/>
              <a:ext cx="273960" cy="32400"/>
              <a:chOff x="2450520" y="305640"/>
              <a:chExt cx="273960" cy="32400"/>
            </a:xfrm>
          </p:grpSpPr>
          <p:sp>
            <p:nvSpPr>
              <p:cNvPr id="9" name="Google Shape;18;p2"/>
              <p:cNvSpPr/>
              <p:nvPr/>
            </p:nvSpPr>
            <p:spPr>
              <a:xfrm>
                <a:off x="2450520" y="3056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0" name="Google Shape;19;p2"/>
              <p:cNvSpPr/>
              <p:nvPr/>
            </p:nvSpPr>
            <p:spPr>
              <a:xfrm>
                <a:off x="2511000" y="3056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1" name="Google Shape;20;p2"/>
              <p:cNvSpPr/>
              <p:nvPr/>
            </p:nvSpPr>
            <p:spPr>
              <a:xfrm>
                <a:off x="2571480" y="3056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2" name="Google Shape;21;p2"/>
              <p:cNvSpPr/>
              <p:nvPr/>
            </p:nvSpPr>
            <p:spPr>
              <a:xfrm>
                <a:off x="2631960" y="3056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3" name="Google Shape;22;p2"/>
              <p:cNvSpPr/>
              <p:nvPr/>
            </p:nvSpPr>
            <p:spPr>
              <a:xfrm>
                <a:off x="2692080" y="3056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14" name="Google Shape;23;p2"/>
            <p:cNvGrpSpPr/>
            <p:nvPr/>
          </p:nvGrpSpPr>
          <p:grpSpPr>
            <a:xfrm>
              <a:off x="4434840" y="4848120"/>
              <a:ext cx="273960" cy="32400"/>
              <a:chOff x="4434840" y="4848120"/>
              <a:chExt cx="273960" cy="32400"/>
            </a:xfrm>
          </p:grpSpPr>
          <p:sp>
            <p:nvSpPr>
              <p:cNvPr id="15" name="Google Shape;24;p2"/>
              <p:cNvSpPr/>
              <p:nvPr/>
            </p:nvSpPr>
            <p:spPr>
              <a:xfrm>
                <a:off x="4434840" y="484812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6" name="Google Shape;25;p2"/>
              <p:cNvSpPr/>
              <p:nvPr/>
            </p:nvSpPr>
            <p:spPr>
              <a:xfrm>
                <a:off x="4495320" y="484812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7" name="Google Shape;26;p2"/>
              <p:cNvSpPr/>
              <p:nvPr/>
            </p:nvSpPr>
            <p:spPr>
              <a:xfrm>
                <a:off x="4555800" y="484812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8" name="Google Shape;27;p2"/>
              <p:cNvSpPr/>
              <p:nvPr/>
            </p:nvSpPr>
            <p:spPr>
              <a:xfrm>
                <a:off x="4615920" y="484812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19" name="Google Shape;28;p2"/>
              <p:cNvSpPr/>
              <p:nvPr/>
            </p:nvSpPr>
            <p:spPr>
              <a:xfrm>
                <a:off x="4676400" y="484812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pic>
        <p:nvPicPr>
          <p:cNvPr id="20" name="Google Shape;29;p2"/>
          <p:cNvPicPr/>
          <p:nvPr/>
        </p:nvPicPr>
        <p:blipFill>
          <a:blip r:embed="rId5" cstate="print"/>
          <a:srcRect l="57098" t="16029" r="3509" b="43399"/>
          <a:stretch/>
        </p:blipFill>
        <p:spPr>
          <a:xfrm>
            <a:off x="27360" y="4233240"/>
            <a:ext cx="1371240" cy="1371240"/>
          </a:xfrm>
          <a:prstGeom prst="rect">
            <a:avLst/>
          </a:prstGeom>
          <a:ln w="0">
            <a:noFill/>
          </a:ln>
        </p:spPr>
      </p:pic>
      <p:grpSp>
        <p:nvGrpSpPr>
          <p:cNvPr id="21" name="Google Shape;30;p2"/>
          <p:cNvGrpSpPr/>
          <p:nvPr/>
        </p:nvGrpSpPr>
        <p:grpSpPr>
          <a:xfrm>
            <a:off x="-548640" y="1564200"/>
            <a:ext cx="10103760" cy="2444760"/>
            <a:chOff x="-548640" y="1564200"/>
            <a:chExt cx="10103760" cy="2444760"/>
          </a:xfrm>
        </p:grpSpPr>
        <p:grpSp>
          <p:nvGrpSpPr>
            <p:cNvPr id="22" name="Google Shape;31;p2"/>
            <p:cNvGrpSpPr/>
            <p:nvPr/>
          </p:nvGrpSpPr>
          <p:grpSpPr>
            <a:xfrm>
              <a:off x="-548640" y="2912400"/>
              <a:ext cx="1096560" cy="1096560"/>
              <a:chOff x="-548640" y="2912400"/>
              <a:chExt cx="1096560" cy="1096560"/>
            </a:xfrm>
          </p:grpSpPr>
          <p:sp>
            <p:nvSpPr>
              <p:cNvPr id="23" name="Google Shape;32;p2"/>
              <p:cNvSpPr/>
              <p:nvPr/>
            </p:nvSpPr>
            <p:spPr>
              <a:xfrm>
                <a:off x="-548640" y="291240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" name="Google Shape;33;p2"/>
              <p:cNvSpPr/>
              <p:nvPr/>
            </p:nvSpPr>
            <p:spPr>
              <a:xfrm>
                <a:off x="-492120" y="296892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" name="Google Shape;34;p2"/>
              <p:cNvSpPr/>
              <p:nvPr/>
            </p:nvSpPr>
            <p:spPr>
              <a:xfrm>
                <a:off x="-438840" y="302184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" name="Google Shape;35;p2"/>
              <p:cNvSpPr/>
              <p:nvPr/>
            </p:nvSpPr>
            <p:spPr>
              <a:xfrm>
                <a:off x="-384120" y="307692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7" name="Google Shape;36;p2"/>
              <p:cNvSpPr/>
              <p:nvPr/>
            </p:nvSpPr>
            <p:spPr>
              <a:xfrm>
                <a:off x="-329040" y="31316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8" name="Google Shape;37;p2"/>
              <p:cNvSpPr/>
              <p:nvPr/>
            </p:nvSpPr>
            <p:spPr>
              <a:xfrm>
                <a:off x="-274320" y="31863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9" name="Google Shape;38;p2"/>
              <p:cNvSpPr/>
              <p:nvPr/>
            </p:nvSpPr>
            <p:spPr>
              <a:xfrm>
                <a:off x="-213480" y="324756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" name="Google Shape;39;p2"/>
              <p:cNvSpPr/>
              <p:nvPr/>
            </p:nvSpPr>
            <p:spPr>
              <a:xfrm>
                <a:off x="-152280" y="33084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1" name="Google Shape;40;p2"/>
            <p:cNvGrpSpPr/>
            <p:nvPr/>
          </p:nvGrpSpPr>
          <p:grpSpPr>
            <a:xfrm>
              <a:off x="8732520" y="1564200"/>
              <a:ext cx="822600" cy="822600"/>
              <a:chOff x="8732520" y="1564200"/>
              <a:chExt cx="822600" cy="822600"/>
            </a:xfrm>
          </p:grpSpPr>
          <p:sp>
            <p:nvSpPr>
              <p:cNvPr id="32" name="Google Shape;41;p2"/>
              <p:cNvSpPr/>
              <p:nvPr/>
            </p:nvSpPr>
            <p:spPr>
              <a:xfrm>
                <a:off x="8732520" y="156420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3" name="Google Shape;42;p2"/>
              <p:cNvSpPr/>
              <p:nvPr/>
            </p:nvSpPr>
            <p:spPr>
              <a:xfrm>
                <a:off x="8775000" y="160668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4" name="Google Shape;43;p2"/>
              <p:cNvSpPr/>
              <p:nvPr/>
            </p:nvSpPr>
            <p:spPr>
              <a:xfrm>
                <a:off x="8814600" y="164628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5" name="Google Shape;44;p2"/>
              <p:cNvSpPr/>
              <p:nvPr/>
            </p:nvSpPr>
            <p:spPr>
              <a:xfrm>
                <a:off x="8856000" y="168768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6" name="Google Shape;45;p2"/>
              <p:cNvSpPr/>
              <p:nvPr/>
            </p:nvSpPr>
            <p:spPr>
              <a:xfrm>
                <a:off x="8897040" y="172872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7" name="Google Shape;46;p2"/>
              <p:cNvSpPr/>
              <p:nvPr/>
            </p:nvSpPr>
            <p:spPr>
              <a:xfrm>
                <a:off x="8938080" y="176976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8" name="Google Shape;47;p2"/>
              <p:cNvSpPr/>
              <p:nvPr/>
            </p:nvSpPr>
            <p:spPr>
              <a:xfrm>
                <a:off x="8983800" y="181548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9" name="Google Shape;48;p2"/>
              <p:cNvSpPr/>
              <p:nvPr/>
            </p:nvSpPr>
            <p:spPr>
              <a:xfrm>
                <a:off x="9029880" y="186120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1160" y="1203120"/>
            <a:ext cx="7321320" cy="208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2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230;p11"/>
          <p:cNvPicPr/>
          <p:nvPr/>
        </p:nvPicPr>
        <p:blipFill>
          <a:blip r:embed="rId3" cstate="print">
            <a:alphaModFix amt="63000"/>
          </a:blip>
          <a:srcRect l="7609" t="55966" r="57706"/>
          <a:stretch/>
        </p:blipFill>
        <p:spPr>
          <a:xfrm rot="3158400" flipH="1">
            <a:off x="-1326600" y="452520"/>
            <a:ext cx="2302560" cy="285480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657440" y="1800720"/>
            <a:ext cx="582912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DM Sans Medium"/>
                <a:ea typeface="DM Sans Medium"/>
              </a:rPr>
              <a:t>xx%</a:t>
            </a:r>
            <a:endParaRPr lang="fr-FR" sz="60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46" name="Google Shape;233;p11"/>
          <p:cNvGrpSpPr/>
          <p:nvPr/>
        </p:nvGrpSpPr>
        <p:grpSpPr>
          <a:xfrm>
            <a:off x="-548640" y="505440"/>
            <a:ext cx="9623880" cy="4218120"/>
            <a:chOff x="-548640" y="505440"/>
            <a:chExt cx="9623880" cy="4218120"/>
          </a:xfrm>
        </p:grpSpPr>
        <p:grpSp>
          <p:nvGrpSpPr>
            <p:cNvPr id="47" name="Google Shape;234;p11"/>
            <p:cNvGrpSpPr/>
            <p:nvPr/>
          </p:nvGrpSpPr>
          <p:grpSpPr>
            <a:xfrm>
              <a:off x="8252640" y="3900960"/>
              <a:ext cx="822600" cy="822600"/>
              <a:chOff x="8252640" y="3900960"/>
              <a:chExt cx="822600" cy="822600"/>
            </a:xfrm>
          </p:grpSpPr>
          <p:sp>
            <p:nvSpPr>
              <p:cNvPr id="48" name="Google Shape;235;p11"/>
              <p:cNvSpPr/>
              <p:nvPr/>
            </p:nvSpPr>
            <p:spPr>
              <a:xfrm>
                <a:off x="8252640" y="390096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49" name="Google Shape;236;p11"/>
              <p:cNvSpPr/>
              <p:nvPr/>
            </p:nvSpPr>
            <p:spPr>
              <a:xfrm>
                <a:off x="8295120" y="394344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0" name="Google Shape;237;p11"/>
              <p:cNvSpPr/>
              <p:nvPr/>
            </p:nvSpPr>
            <p:spPr>
              <a:xfrm>
                <a:off x="8335080" y="398340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1" name="Google Shape;238;p11"/>
              <p:cNvSpPr/>
              <p:nvPr/>
            </p:nvSpPr>
            <p:spPr>
              <a:xfrm>
                <a:off x="8376120" y="402444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2" name="Google Shape;239;p11"/>
              <p:cNvSpPr/>
              <p:nvPr/>
            </p:nvSpPr>
            <p:spPr>
              <a:xfrm>
                <a:off x="8417160" y="406548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3" name="Google Shape;240;p11"/>
              <p:cNvSpPr/>
              <p:nvPr/>
            </p:nvSpPr>
            <p:spPr>
              <a:xfrm>
                <a:off x="8458560" y="410688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4" name="Google Shape;241;p11"/>
              <p:cNvSpPr/>
              <p:nvPr/>
            </p:nvSpPr>
            <p:spPr>
              <a:xfrm>
                <a:off x="8504280" y="415260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5" name="Google Shape;242;p11"/>
              <p:cNvSpPr/>
              <p:nvPr/>
            </p:nvSpPr>
            <p:spPr>
              <a:xfrm>
                <a:off x="8550000" y="419832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56" name="Google Shape;243;p11"/>
            <p:cNvGrpSpPr/>
            <p:nvPr/>
          </p:nvGrpSpPr>
          <p:grpSpPr>
            <a:xfrm>
              <a:off x="-548640" y="505440"/>
              <a:ext cx="1096560" cy="1096560"/>
              <a:chOff x="-548640" y="505440"/>
              <a:chExt cx="1096560" cy="1096560"/>
            </a:xfrm>
          </p:grpSpPr>
          <p:sp>
            <p:nvSpPr>
              <p:cNvPr id="57" name="Google Shape;244;p11"/>
              <p:cNvSpPr/>
              <p:nvPr/>
            </p:nvSpPr>
            <p:spPr>
              <a:xfrm>
                <a:off x="-548640" y="50544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8" name="Google Shape;245;p11"/>
              <p:cNvSpPr/>
              <p:nvPr/>
            </p:nvSpPr>
            <p:spPr>
              <a:xfrm>
                <a:off x="-492120" y="56232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59" name="Google Shape;246;p11"/>
              <p:cNvSpPr/>
              <p:nvPr/>
            </p:nvSpPr>
            <p:spPr>
              <a:xfrm>
                <a:off x="-438840" y="61524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0" name="Google Shape;247;p11"/>
              <p:cNvSpPr/>
              <p:nvPr/>
            </p:nvSpPr>
            <p:spPr>
              <a:xfrm>
                <a:off x="-384120" y="67032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1" name="Google Shape;248;p11"/>
              <p:cNvSpPr/>
              <p:nvPr/>
            </p:nvSpPr>
            <p:spPr>
              <a:xfrm>
                <a:off x="-329040" y="7250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2" name="Google Shape;249;p11"/>
              <p:cNvSpPr/>
              <p:nvPr/>
            </p:nvSpPr>
            <p:spPr>
              <a:xfrm>
                <a:off x="-274320" y="7797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3" name="Google Shape;250;p11"/>
              <p:cNvSpPr/>
              <p:nvPr/>
            </p:nvSpPr>
            <p:spPr>
              <a:xfrm>
                <a:off x="-213480" y="84060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64" name="Google Shape;251;p11"/>
              <p:cNvSpPr/>
              <p:nvPr/>
            </p:nvSpPr>
            <p:spPr>
              <a:xfrm>
                <a:off x="-152280" y="9018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grpSp>
        <p:nvGrpSpPr>
          <p:cNvPr id="65" name="Google Shape;252;p11"/>
          <p:cNvGrpSpPr/>
          <p:nvPr/>
        </p:nvGrpSpPr>
        <p:grpSpPr>
          <a:xfrm>
            <a:off x="374760" y="198000"/>
            <a:ext cx="8578440" cy="2859480"/>
            <a:chOff x="374760" y="198000"/>
            <a:chExt cx="8578440" cy="2859480"/>
          </a:xfrm>
        </p:grpSpPr>
        <p:sp>
          <p:nvSpPr>
            <p:cNvPr id="66" name="Google Shape;253;p11"/>
            <p:cNvSpPr/>
            <p:nvPr/>
          </p:nvSpPr>
          <p:spPr>
            <a:xfrm flipH="1">
              <a:off x="374400" y="19800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67" name="Google Shape;254;p11"/>
            <p:cNvSpPr/>
            <p:nvPr/>
          </p:nvSpPr>
          <p:spPr>
            <a:xfrm flipH="1">
              <a:off x="8678880" y="278352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420;p19"/>
          <p:cNvPicPr/>
          <p:nvPr/>
        </p:nvPicPr>
        <p:blipFill>
          <a:blip r:embed="rId3" cstate="print">
            <a:alphaModFix amt="63000"/>
          </a:blip>
          <a:srcRect l="50780" t="55966" r="5115"/>
          <a:stretch/>
        </p:blipFill>
        <p:spPr>
          <a:xfrm rot="1522200">
            <a:off x="7492320" y="3947760"/>
            <a:ext cx="2343240" cy="2284560"/>
          </a:xfrm>
          <a:prstGeom prst="rect">
            <a:avLst/>
          </a:prstGeom>
          <a:ln w="0">
            <a:noFill/>
          </a:ln>
        </p:spPr>
      </p:pic>
      <p:sp>
        <p:nvSpPr>
          <p:cNvPr id="218" name="Google Shape;421;p19"/>
          <p:cNvSpPr/>
          <p:nvPr/>
        </p:nvSpPr>
        <p:spPr>
          <a:xfrm rot="10800000">
            <a:off x="8611200" y="3166200"/>
            <a:ext cx="273960" cy="27396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219" name="Google Shape;422;p19"/>
          <p:cNvGrpSpPr/>
          <p:nvPr/>
        </p:nvGrpSpPr>
        <p:grpSpPr>
          <a:xfrm>
            <a:off x="442440" y="1799640"/>
            <a:ext cx="32400" cy="273960"/>
            <a:chOff x="442440" y="1799640"/>
            <a:chExt cx="32400" cy="273960"/>
          </a:xfrm>
        </p:grpSpPr>
        <p:sp>
          <p:nvSpPr>
            <p:cNvPr id="220" name="Google Shape;423;p19"/>
            <p:cNvSpPr/>
            <p:nvPr/>
          </p:nvSpPr>
          <p:spPr>
            <a:xfrm rot="5400000">
              <a:off x="442440" y="17996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1" name="Google Shape;424;p19"/>
            <p:cNvSpPr/>
            <p:nvPr/>
          </p:nvSpPr>
          <p:spPr>
            <a:xfrm rot="5400000">
              <a:off x="442440" y="185976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2" name="Google Shape;425;p19"/>
            <p:cNvSpPr/>
            <p:nvPr/>
          </p:nvSpPr>
          <p:spPr>
            <a:xfrm rot="5400000">
              <a:off x="442440" y="19202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3" name="Google Shape;426;p19"/>
            <p:cNvSpPr/>
            <p:nvPr/>
          </p:nvSpPr>
          <p:spPr>
            <a:xfrm rot="5400000">
              <a:off x="442440" y="198072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24" name="Google Shape;427;p19"/>
            <p:cNvSpPr/>
            <p:nvPr/>
          </p:nvSpPr>
          <p:spPr>
            <a:xfrm rot="5400000">
              <a:off x="442440" y="204120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grpSp>
        <p:nvGrpSpPr>
          <p:cNvPr id="225" name="Google Shape;428;p19"/>
          <p:cNvGrpSpPr/>
          <p:nvPr/>
        </p:nvGrpSpPr>
        <p:grpSpPr>
          <a:xfrm>
            <a:off x="-548640" y="564840"/>
            <a:ext cx="10108080" cy="3773160"/>
            <a:chOff x="-548640" y="564840"/>
            <a:chExt cx="10108080" cy="3773160"/>
          </a:xfrm>
        </p:grpSpPr>
        <p:grpSp>
          <p:nvGrpSpPr>
            <p:cNvPr id="226" name="Google Shape;429;p19"/>
            <p:cNvGrpSpPr/>
            <p:nvPr/>
          </p:nvGrpSpPr>
          <p:grpSpPr>
            <a:xfrm>
              <a:off x="-548640" y="564840"/>
              <a:ext cx="1096920" cy="1096920"/>
              <a:chOff x="-548640" y="564840"/>
              <a:chExt cx="1096920" cy="1096920"/>
            </a:xfrm>
          </p:grpSpPr>
          <p:sp>
            <p:nvSpPr>
              <p:cNvPr id="227" name="Google Shape;430;p19"/>
              <p:cNvSpPr/>
              <p:nvPr/>
            </p:nvSpPr>
            <p:spPr>
              <a:xfrm>
                <a:off x="-548640" y="564840"/>
                <a:ext cx="1096920" cy="10969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8" name="Google Shape;431;p19"/>
              <p:cNvSpPr/>
              <p:nvPr/>
            </p:nvSpPr>
            <p:spPr>
              <a:xfrm>
                <a:off x="-492120" y="62136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29" name="Google Shape;432;p19"/>
              <p:cNvSpPr/>
              <p:nvPr/>
            </p:nvSpPr>
            <p:spPr>
              <a:xfrm>
                <a:off x="-439200" y="67428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0" name="Google Shape;433;p19"/>
              <p:cNvSpPr/>
              <p:nvPr/>
            </p:nvSpPr>
            <p:spPr>
              <a:xfrm>
                <a:off x="-384120" y="72936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1" name="Google Shape;434;p19"/>
              <p:cNvSpPr/>
              <p:nvPr/>
            </p:nvSpPr>
            <p:spPr>
              <a:xfrm>
                <a:off x="-329040" y="78408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2" name="Google Shape;435;p19"/>
              <p:cNvSpPr/>
              <p:nvPr/>
            </p:nvSpPr>
            <p:spPr>
              <a:xfrm>
                <a:off x="-274320" y="839160"/>
                <a:ext cx="548640" cy="548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3" name="Google Shape;436;p19"/>
              <p:cNvSpPr/>
              <p:nvPr/>
            </p:nvSpPr>
            <p:spPr>
              <a:xfrm>
                <a:off x="-213480" y="900000"/>
                <a:ext cx="426600" cy="426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4" name="Google Shape;437;p19"/>
              <p:cNvSpPr/>
              <p:nvPr/>
            </p:nvSpPr>
            <p:spPr>
              <a:xfrm>
                <a:off x="-152280" y="96084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35" name="Google Shape;438;p19"/>
            <p:cNvGrpSpPr/>
            <p:nvPr/>
          </p:nvGrpSpPr>
          <p:grpSpPr>
            <a:xfrm>
              <a:off x="8736840" y="3515400"/>
              <a:ext cx="822600" cy="822600"/>
              <a:chOff x="8736840" y="3515400"/>
              <a:chExt cx="822600" cy="822600"/>
            </a:xfrm>
          </p:grpSpPr>
          <p:sp>
            <p:nvSpPr>
              <p:cNvPr id="236" name="Google Shape;439;p19"/>
              <p:cNvSpPr/>
              <p:nvPr/>
            </p:nvSpPr>
            <p:spPr>
              <a:xfrm rot="10800000">
                <a:off x="8736840" y="351540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7" name="Google Shape;440;p19"/>
              <p:cNvSpPr/>
              <p:nvPr/>
            </p:nvSpPr>
            <p:spPr>
              <a:xfrm rot="10800000">
                <a:off x="8779320" y="355788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8" name="Google Shape;441;p19"/>
              <p:cNvSpPr/>
              <p:nvPr/>
            </p:nvSpPr>
            <p:spPr>
              <a:xfrm rot="10800000">
                <a:off x="8819280" y="359748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39" name="Google Shape;442;p19"/>
              <p:cNvSpPr/>
              <p:nvPr/>
            </p:nvSpPr>
            <p:spPr>
              <a:xfrm rot="10800000">
                <a:off x="8860320" y="363888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0" name="Google Shape;443;p19"/>
              <p:cNvSpPr/>
              <p:nvPr/>
            </p:nvSpPr>
            <p:spPr>
              <a:xfrm rot="10800000">
                <a:off x="8901360" y="367992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1" name="Google Shape;444;p19"/>
              <p:cNvSpPr/>
              <p:nvPr/>
            </p:nvSpPr>
            <p:spPr>
              <a:xfrm rot="10800000">
                <a:off x="8942760" y="372096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2" name="Google Shape;445;p19"/>
              <p:cNvSpPr/>
              <p:nvPr/>
            </p:nvSpPr>
            <p:spPr>
              <a:xfrm rot="10800000">
                <a:off x="8988480" y="376668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43" name="Google Shape;446;p19"/>
              <p:cNvSpPr/>
              <p:nvPr/>
            </p:nvSpPr>
            <p:spPr>
              <a:xfrm rot="10800000">
                <a:off x="9033840" y="381240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244" name="Google Shape;447;p19"/>
          <p:cNvPicPr/>
          <p:nvPr/>
        </p:nvPicPr>
        <p:blipFill>
          <a:blip r:embed="rId4" cstate="print"/>
          <a:srcRect l="15074" t="23118" r="19923" b="25916"/>
          <a:stretch/>
        </p:blipFill>
        <p:spPr>
          <a:xfrm rot="21062400">
            <a:off x="-1703880" y="-714600"/>
            <a:ext cx="2707200" cy="2072880"/>
          </a:xfrm>
          <a:prstGeom prst="rect">
            <a:avLst/>
          </a:prstGeom>
          <a:ln w="0">
            <a:noFill/>
          </a:ln>
        </p:spPr>
      </p:pic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720000" y="1662120"/>
            <a:ext cx="3121920" cy="105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451;p20"/>
          <p:cNvPicPr/>
          <p:nvPr/>
        </p:nvPicPr>
        <p:blipFill>
          <a:blip r:embed="rId3" cstate="print">
            <a:alphaModFix amt="63000"/>
          </a:blip>
          <a:srcRect l="3340" t="55966" r="57265"/>
          <a:stretch/>
        </p:blipFill>
        <p:spPr>
          <a:xfrm rot="10269600">
            <a:off x="7561800" y="-1049760"/>
            <a:ext cx="2351160" cy="2566440"/>
          </a:xfrm>
          <a:prstGeom prst="rect">
            <a:avLst/>
          </a:prstGeom>
          <a:ln w="0">
            <a:noFill/>
          </a:ln>
        </p:spPr>
      </p:pic>
      <p:sp>
        <p:nvSpPr>
          <p:cNvPr id="248" name="Google Shape;452;p20"/>
          <p:cNvSpPr/>
          <p:nvPr/>
        </p:nvSpPr>
        <p:spPr>
          <a:xfrm flipH="1">
            <a:off x="8599320" y="1840320"/>
            <a:ext cx="273960" cy="27396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249" name="Google Shape;453;p20"/>
          <p:cNvGrpSpPr/>
          <p:nvPr/>
        </p:nvGrpSpPr>
        <p:grpSpPr>
          <a:xfrm>
            <a:off x="-376920" y="942480"/>
            <a:ext cx="9931680" cy="3269160"/>
            <a:chOff x="-376920" y="942480"/>
            <a:chExt cx="9931680" cy="3269160"/>
          </a:xfrm>
        </p:grpSpPr>
        <p:grpSp>
          <p:nvGrpSpPr>
            <p:cNvPr id="250" name="Google Shape;454;p20"/>
            <p:cNvGrpSpPr/>
            <p:nvPr/>
          </p:nvGrpSpPr>
          <p:grpSpPr>
            <a:xfrm>
              <a:off x="-376920" y="3389040"/>
              <a:ext cx="822600" cy="822600"/>
              <a:chOff x="-376920" y="3389040"/>
              <a:chExt cx="822600" cy="822600"/>
            </a:xfrm>
          </p:grpSpPr>
          <p:sp>
            <p:nvSpPr>
              <p:cNvPr id="251" name="Google Shape;455;p20"/>
              <p:cNvSpPr/>
              <p:nvPr/>
            </p:nvSpPr>
            <p:spPr>
              <a:xfrm flipH="1">
                <a:off x="-377280" y="338904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2" name="Google Shape;456;p20"/>
              <p:cNvSpPr/>
              <p:nvPr/>
            </p:nvSpPr>
            <p:spPr>
              <a:xfrm flipH="1">
                <a:off x="-334800" y="343152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3" name="Google Shape;457;p20"/>
              <p:cNvSpPr/>
              <p:nvPr/>
            </p:nvSpPr>
            <p:spPr>
              <a:xfrm flipH="1">
                <a:off x="-294480" y="347112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4" name="Google Shape;458;p20"/>
              <p:cNvSpPr/>
              <p:nvPr/>
            </p:nvSpPr>
            <p:spPr>
              <a:xfrm flipH="1">
                <a:off x="-253800" y="351252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5" name="Google Shape;459;p20"/>
              <p:cNvSpPr/>
              <p:nvPr/>
            </p:nvSpPr>
            <p:spPr>
              <a:xfrm flipH="1">
                <a:off x="-212760" y="355356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6" name="Google Shape;460;p20"/>
              <p:cNvSpPr/>
              <p:nvPr/>
            </p:nvSpPr>
            <p:spPr>
              <a:xfrm flipH="1">
                <a:off x="-171000" y="359460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7" name="Google Shape;461;p20"/>
              <p:cNvSpPr/>
              <p:nvPr/>
            </p:nvSpPr>
            <p:spPr>
              <a:xfrm flipH="1">
                <a:off x="-125280" y="364032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58" name="Google Shape;462;p20"/>
              <p:cNvSpPr/>
              <p:nvPr/>
            </p:nvSpPr>
            <p:spPr>
              <a:xfrm flipH="1">
                <a:off x="-79560" y="368604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259" name="Google Shape;463;p20"/>
            <p:cNvGrpSpPr/>
            <p:nvPr/>
          </p:nvGrpSpPr>
          <p:grpSpPr>
            <a:xfrm>
              <a:off x="8732160" y="942480"/>
              <a:ext cx="822600" cy="822600"/>
              <a:chOff x="8732160" y="942480"/>
              <a:chExt cx="822600" cy="822600"/>
            </a:xfrm>
          </p:grpSpPr>
          <p:sp>
            <p:nvSpPr>
              <p:cNvPr id="260" name="Google Shape;464;p20"/>
              <p:cNvSpPr/>
              <p:nvPr/>
            </p:nvSpPr>
            <p:spPr>
              <a:xfrm flipH="1">
                <a:off x="8731800" y="94248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1" name="Google Shape;465;p20"/>
              <p:cNvSpPr/>
              <p:nvPr/>
            </p:nvSpPr>
            <p:spPr>
              <a:xfrm flipH="1">
                <a:off x="8774280" y="98496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2" name="Google Shape;466;p20"/>
              <p:cNvSpPr/>
              <p:nvPr/>
            </p:nvSpPr>
            <p:spPr>
              <a:xfrm flipH="1">
                <a:off x="8814600" y="102492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3" name="Google Shape;467;p20"/>
              <p:cNvSpPr/>
              <p:nvPr/>
            </p:nvSpPr>
            <p:spPr>
              <a:xfrm flipH="1">
                <a:off x="8855280" y="106596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4" name="Google Shape;468;p20"/>
              <p:cNvSpPr/>
              <p:nvPr/>
            </p:nvSpPr>
            <p:spPr>
              <a:xfrm flipH="1">
                <a:off x="8896320" y="110700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5" name="Google Shape;469;p20"/>
              <p:cNvSpPr/>
              <p:nvPr/>
            </p:nvSpPr>
            <p:spPr>
              <a:xfrm flipH="1">
                <a:off x="8938080" y="114840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6" name="Google Shape;470;p20"/>
              <p:cNvSpPr/>
              <p:nvPr/>
            </p:nvSpPr>
            <p:spPr>
              <a:xfrm flipH="1">
                <a:off x="8983800" y="119412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267" name="Google Shape;471;p20"/>
              <p:cNvSpPr/>
              <p:nvPr/>
            </p:nvSpPr>
            <p:spPr>
              <a:xfrm flipH="1">
                <a:off x="9029880" y="123984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268" name="Google Shape;472;p20"/>
          <p:cNvPicPr/>
          <p:nvPr/>
        </p:nvPicPr>
        <p:blipFill>
          <a:blip r:embed="rId4" cstate="print"/>
          <a:srcRect l="10330" t="19134" r="12747" b="11417"/>
          <a:stretch/>
        </p:blipFill>
        <p:spPr>
          <a:xfrm rot="5164200" flipH="1">
            <a:off x="-717120" y="3944160"/>
            <a:ext cx="2367000" cy="2086920"/>
          </a:xfrm>
          <a:prstGeom prst="rect">
            <a:avLst/>
          </a:prstGeom>
          <a:ln w="0">
            <a:noFill/>
          </a:ln>
        </p:spPr>
      </p:pic>
      <p:grpSp>
        <p:nvGrpSpPr>
          <p:cNvPr id="269" name="Google Shape;473;p20"/>
          <p:cNvGrpSpPr/>
          <p:nvPr/>
        </p:nvGrpSpPr>
        <p:grpSpPr>
          <a:xfrm>
            <a:off x="505800" y="3019680"/>
            <a:ext cx="32400" cy="273960"/>
            <a:chOff x="505800" y="3019680"/>
            <a:chExt cx="32400" cy="273960"/>
          </a:xfrm>
        </p:grpSpPr>
        <p:sp>
          <p:nvSpPr>
            <p:cNvPr id="270" name="Google Shape;474;p20"/>
            <p:cNvSpPr/>
            <p:nvPr/>
          </p:nvSpPr>
          <p:spPr>
            <a:xfrm rot="5400000" flipV="1">
              <a:off x="505800" y="301968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1" name="Google Shape;475;p20"/>
            <p:cNvSpPr/>
            <p:nvPr/>
          </p:nvSpPr>
          <p:spPr>
            <a:xfrm rot="5400000" flipV="1">
              <a:off x="505800" y="307980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2" name="Google Shape;476;p20"/>
            <p:cNvSpPr/>
            <p:nvPr/>
          </p:nvSpPr>
          <p:spPr>
            <a:xfrm rot="5400000" flipV="1">
              <a:off x="505800" y="314028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3" name="Google Shape;477;p20"/>
            <p:cNvSpPr/>
            <p:nvPr/>
          </p:nvSpPr>
          <p:spPr>
            <a:xfrm rot="5400000" flipV="1">
              <a:off x="505800" y="320076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74" name="Google Shape;478;p20"/>
            <p:cNvSpPr/>
            <p:nvPr/>
          </p:nvSpPr>
          <p:spPr>
            <a:xfrm rot="5400000" flipV="1">
              <a:off x="505800" y="32612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4744800" y="1909440"/>
            <a:ext cx="3076920" cy="6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1291680" y="2336040"/>
            <a:ext cx="3804840" cy="164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78" name="PlaceHolder 2"/>
          <p:cNvSpPr>
            <a:spLocks noGrp="1"/>
          </p:cNvSpPr>
          <p:nvPr>
            <p:ph type="title"/>
          </p:nvPr>
        </p:nvSpPr>
        <p:spPr>
          <a:xfrm>
            <a:off x="1371600" y="1162440"/>
            <a:ext cx="1096920" cy="10969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800" b="0" strike="noStrike" spc="-1">
                <a:solidFill>
                  <a:schemeClr val="dk1"/>
                </a:solidFill>
                <a:latin typeface="DM Sans Medium"/>
                <a:ea typeface="DM Sans Medium"/>
              </a:rPr>
              <a:t>xx%</a:t>
            </a:r>
            <a:endParaRPr lang="fr-FR" sz="4800" b="0" strike="noStrike" spc="-1">
              <a:solidFill>
                <a:schemeClr val="dk1"/>
              </a:solidFill>
              <a:latin typeface="Arial"/>
            </a:endParaRPr>
          </a:p>
        </p:txBody>
      </p:sp>
      <p:pic>
        <p:nvPicPr>
          <p:cNvPr id="279" name="Google Shape;54;p3"/>
          <p:cNvPicPr/>
          <p:nvPr/>
        </p:nvPicPr>
        <p:blipFill>
          <a:blip r:embed="rId3" cstate="print">
            <a:alphaModFix amt="77000"/>
          </a:blip>
          <a:srcRect l="51169" t="56240" r="6542"/>
          <a:stretch/>
        </p:blipFill>
        <p:spPr>
          <a:xfrm flipH="1">
            <a:off x="-855360" y="3742200"/>
            <a:ext cx="2226960" cy="2250360"/>
          </a:xfrm>
          <a:prstGeom prst="rect">
            <a:avLst/>
          </a:prstGeom>
          <a:ln w="0">
            <a:noFill/>
          </a:ln>
        </p:spPr>
      </p:pic>
      <p:pic>
        <p:nvPicPr>
          <p:cNvPr id="280" name="Google Shape;55;p3"/>
          <p:cNvPicPr/>
          <p:nvPr/>
        </p:nvPicPr>
        <p:blipFill>
          <a:blip r:embed="rId4" cstate="print">
            <a:alphaModFix amt="77000"/>
          </a:blip>
          <a:srcRect l="55131" t="4844" r="2579" b="82335"/>
          <a:stretch/>
        </p:blipFill>
        <p:spPr>
          <a:xfrm rot="10800000" flipH="1">
            <a:off x="7903080" y="82440"/>
            <a:ext cx="1547640" cy="456840"/>
          </a:xfrm>
          <a:prstGeom prst="rect">
            <a:avLst/>
          </a:prstGeom>
          <a:ln w="0">
            <a:noFill/>
          </a:ln>
        </p:spPr>
      </p:pic>
      <p:sp>
        <p:nvSpPr>
          <p:cNvPr id="281" name="Google Shape;56;p3"/>
          <p:cNvSpPr/>
          <p:nvPr/>
        </p:nvSpPr>
        <p:spPr>
          <a:xfrm flipH="1">
            <a:off x="120240" y="3468240"/>
            <a:ext cx="273960" cy="27396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282" name="Google Shape;57;p3"/>
          <p:cNvGrpSpPr/>
          <p:nvPr/>
        </p:nvGrpSpPr>
        <p:grpSpPr>
          <a:xfrm>
            <a:off x="1407960" y="597960"/>
            <a:ext cx="7665120" cy="4299840"/>
            <a:chOff x="1407960" y="597960"/>
            <a:chExt cx="7665120" cy="4299840"/>
          </a:xfrm>
        </p:grpSpPr>
        <p:grpSp>
          <p:nvGrpSpPr>
            <p:cNvPr id="283" name="Google Shape;58;p3"/>
            <p:cNvGrpSpPr/>
            <p:nvPr/>
          </p:nvGrpSpPr>
          <p:grpSpPr>
            <a:xfrm>
              <a:off x="8799120" y="597960"/>
              <a:ext cx="273960" cy="32400"/>
              <a:chOff x="8799120" y="597960"/>
              <a:chExt cx="273960" cy="32400"/>
            </a:xfrm>
          </p:grpSpPr>
          <p:sp>
            <p:nvSpPr>
              <p:cNvPr id="284" name="Google Shape;59;p3"/>
              <p:cNvSpPr/>
              <p:nvPr/>
            </p:nvSpPr>
            <p:spPr>
              <a:xfrm flipH="1">
                <a:off x="9040680" y="5979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85" name="Google Shape;60;p3"/>
              <p:cNvSpPr/>
              <p:nvPr/>
            </p:nvSpPr>
            <p:spPr>
              <a:xfrm flipH="1">
                <a:off x="8980560" y="5979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86" name="Google Shape;61;p3"/>
              <p:cNvSpPr/>
              <p:nvPr/>
            </p:nvSpPr>
            <p:spPr>
              <a:xfrm flipH="1">
                <a:off x="8920080" y="5979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87" name="Google Shape;62;p3"/>
              <p:cNvSpPr/>
              <p:nvPr/>
            </p:nvSpPr>
            <p:spPr>
              <a:xfrm flipH="1">
                <a:off x="8859600" y="5979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88" name="Google Shape;63;p3"/>
              <p:cNvSpPr/>
              <p:nvPr/>
            </p:nvSpPr>
            <p:spPr>
              <a:xfrm flipH="1">
                <a:off x="8799120" y="5979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289" name="Google Shape;64;p3"/>
            <p:cNvGrpSpPr/>
            <p:nvPr/>
          </p:nvGrpSpPr>
          <p:grpSpPr>
            <a:xfrm>
              <a:off x="1407960" y="4865400"/>
              <a:ext cx="273960" cy="32400"/>
              <a:chOff x="1407960" y="4865400"/>
              <a:chExt cx="273960" cy="32400"/>
            </a:xfrm>
          </p:grpSpPr>
          <p:sp>
            <p:nvSpPr>
              <p:cNvPr id="290" name="Google Shape;65;p3"/>
              <p:cNvSpPr/>
              <p:nvPr/>
            </p:nvSpPr>
            <p:spPr>
              <a:xfrm flipH="1">
                <a:off x="1649520" y="486540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91" name="Google Shape;66;p3"/>
              <p:cNvSpPr/>
              <p:nvPr/>
            </p:nvSpPr>
            <p:spPr>
              <a:xfrm flipH="1">
                <a:off x="1589040" y="486540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92" name="Google Shape;67;p3"/>
              <p:cNvSpPr/>
              <p:nvPr/>
            </p:nvSpPr>
            <p:spPr>
              <a:xfrm flipH="1">
                <a:off x="1528560" y="486540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93" name="Google Shape;68;p3"/>
              <p:cNvSpPr/>
              <p:nvPr/>
            </p:nvSpPr>
            <p:spPr>
              <a:xfrm flipH="1">
                <a:off x="1468080" y="486540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294" name="Google Shape;69;p3"/>
              <p:cNvSpPr/>
              <p:nvPr/>
            </p:nvSpPr>
            <p:spPr>
              <a:xfrm flipH="1">
                <a:off x="1407960" y="486540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</p:grp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1695600" y="1881360"/>
            <a:ext cx="3002040" cy="630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grpSp>
        <p:nvGrpSpPr>
          <p:cNvPr id="297" name="Google Shape;484;p21"/>
          <p:cNvGrpSpPr/>
          <p:nvPr/>
        </p:nvGrpSpPr>
        <p:grpSpPr>
          <a:xfrm>
            <a:off x="517320" y="1800000"/>
            <a:ext cx="32400" cy="273960"/>
            <a:chOff x="517320" y="1800000"/>
            <a:chExt cx="32400" cy="273960"/>
          </a:xfrm>
        </p:grpSpPr>
        <p:sp>
          <p:nvSpPr>
            <p:cNvPr id="298" name="Google Shape;485;p21"/>
            <p:cNvSpPr/>
            <p:nvPr/>
          </p:nvSpPr>
          <p:spPr>
            <a:xfrm rot="5400000">
              <a:off x="517320" y="180000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299" name="Google Shape;486;p21"/>
            <p:cNvSpPr/>
            <p:nvPr/>
          </p:nvSpPr>
          <p:spPr>
            <a:xfrm rot="5400000">
              <a:off x="517320" y="186048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0" name="Google Shape;487;p21"/>
            <p:cNvSpPr/>
            <p:nvPr/>
          </p:nvSpPr>
          <p:spPr>
            <a:xfrm rot="5400000">
              <a:off x="517320" y="192096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1" name="Google Shape;488;p21"/>
            <p:cNvSpPr/>
            <p:nvPr/>
          </p:nvSpPr>
          <p:spPr>
            <a:xfrm rot="5400000">
              <a:off x="517320" y="198108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302" name="Google Shape;489;p21"/>
            <p:cNvSpPr/>
            <p:nvPr/>
          </p:nvSpPr>
          <p:spPr>
            <a:xfrm rot="5400000">
              <a:off x="517320" y="204156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pic>
        <p:nvPicPr>
          <p:cNvPr id="303" name="Google Shape;490;p21"/>
          <p:cNvPicPr/>
          <p:nvPr/>
        </p:nvPicPr>
        <p:blipFill>
          <a:blip r:embed="rId3" cstate="print"/>
          <a:srcRect l="51169" t="4835" b="80959"/>
          <a:stretch/>
        </p:blipFill>
        <p:spPr>
          <a:xfrm rot="10800000">
            <a:off x="7504920" y="4482000"/>
            <a:ext cx="2329200" cy="661320"/>
          </a:xfrm>
          <a:prstGeom prst="rect">
            <a:avLst/>
          </a:prstGeom>
          <a:ln w="0">
            <a:noFill/>
          </a:ln>
        </p:spPr>
      </p:pic>
      <p:sp>
        <p:nvSpPr>
          <p:cNvPr id="304" name="Google Shape;491;p21"/>
          <p:cNvSpPr/>
          <p:nvPr/>
        </p:nvSpPr>
        <p:spPr>
          <a:xfrm>
            <a:off x="8473680" y="3287880"/>
            <a:ext cx="273960" cy="27396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305" name="Google Shape;492;p21"/>
          <p:cNvGrpSpPr/>
          <p:nvPr/>
        </p:nvGrpSpPr>
        <p:grpSpPr>
          <a:xfrm>
            <a:off x="-411480" y="1022760"/>
            <a:ext cx="9966600" cy="3410280"/>
            <a:chOff x="-411480" y="1022760"/>
            <a:chExt cx="9966600" cy="3410280"/>
          </a:xfrm>
        </p:grpSpPr>
        <p:grpSp>
          <p:nvGrpSpPr>
            <p:cNvPr id="306" name="Google Shape;493;p21"/>
            <p:cNvGrpSpPr/>
            <p:nvPr/>
          </p:nvGrpSpPr>
          <p:grpSpPr>
            <a:xfrm>
              <a:off x="-411480" y="1022760"/>
              <a:ext cx="822600" cy="822600"/>
              <a:chOff x="-411480" y="1022760"/>
              <a:chExt cx="822600" cy="822600"/>
            </a:xfrm>
          </p:grpSpPr>
          <p:sp>
            <p:nvSpPr>
              <p:cNvPr id="307" name="Google Shape;494;p21"/>
              <p:cNvSpPr/>
              <p:nvPr/>
            </p:nvSpPr>
            <p:spPr>
              <a:xfrm>
                <a:off x="-411480" y="102276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8" name="Google Shape;495;p21"/>
              <p:cNvSpPr/>
              <p:nvPr/>
            </p:nvSpPr>
            <p:spPr>
              <a:xfrm>
                <a:off x="-369000" y="106524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09" name="Google Shape;496;p21"/>
              <p:cNvSpPr/>
              <p:nvPr/>
            </p:nvSpPr>
            <p:spPr>
              <a:xfrm>
                <a:off x="-329400" y="11048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0" name="Google Shape;497;p21"/>
              <p:cNvSpPr/>
              <p:nvPr/>
            </p:nvSpPr>
            <p:spPr>
              <a:xfrm>
                <a:off x="-288000" y="114624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1" name="Google Shape;498;p21"/>
              <p:cNvSpPr/>
              <p:nvPr/>
            </p:nvSpPr>
            <p:spPr>
              <a:xfrm>
                <a:off x="-246960" y="118728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2" name="Google Shape;499;p21"/>
              <p:cNvSpPr/>
              <p:nvPr/>
            </p:nvSpPr>
            <p:spPr>
              <a:xfrm>
                <a:off x="-205920" y="122832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3" name="Google Shape;500;p21"/>
              <p:cNvSpPr/>
              <p:nvPr/>
            </p:nvSpPr>
            <p:spPr>
              <a:xfrm>
                <a:off x="-160200" y="127404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4" name="Google Shape;501;p21"/>
              <p:cNvSpPr/>
              <p:nvPr/>
            </p:nvSpPr>
            <p:spPr>
              <a:xfrm>
                <a:off x="-114480" y="132012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grpSp>
          <p:nvGrpSpPr>
            <p:cNvPr id="315" name="Google Shape;502;p21"/>
            <p:cNvGrpSpPr/>
            <p:nvPr/>
          </p:nvGrpSpPr>
          <p:grpSpPr>
            <a:xfrm>
              <a:off x="8732520" y="3610440"/>
              <a:ext cx="822600" cy="822600"/>
              <a:chOff x="8732520" y="3610440"/>
              <a:chExt cx="822600" cy="822600"/>
            </a:xfrm>
          </p:grpSpPr>
          <p:sp>
            <p:nvSpPr>
              <p:cNvPr id="316" name="Google Shape;503;p21"/>
              <p:cNvSpPr/>
              <p:nvPr/>
            </p:nvSpPr>
            <p:spPr>
              <a:xfrm>
                <a:off x="8732520" y="3610440"/>
                <a:ext cx="822600" cy="822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7" name="Google Shape;504;p21"/>
              <p:cNvSpPr/>
              <p:nvPr/>
            </p:nvSpPr>
            <p:spPr>
              <a:xfrm>
                <a:off x="8775000" y="3652920"/>
                <a:ext cx="737640" cy="737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8" name="Google Shape;505;p21"/>
              <p:cNvSpPr/>
              <p:nvPr/>
            </p:nvSpPr>
            <p:spPr>
              <a:xfrm>
                <a:off x="8814600" y="369252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19" name="Google Shape;506;p21"/>
              <p:cNvSpPr/>
              <p:nvPr/>
            </p:nvSpPr>
            <p:spPr>
              <a:xfrm>
                <a:off x="8856000" y="3733920"/>
                <a:ext cx="575640" cy="575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0" name="Google Shape;507;p21"/>
              <p:cNvSpPr/>
              <p:nvPr/>
            </p:nvSpPr>
            <p:spPr>
              <a:xfrm>
                <a:off x="8897040" y="3774960"/>
                <a:ext cx="493560" cy="493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1" name="Google Shape;508;p21"/>
              <p:cNvSpPr/>
              <p:nvPr/>
            </p:nvSpPr>
            <p:spPr>
              <a:xfrm>
                <a:off x="8938080" y="3816000"/>
                <a:ext cx="411120" cy="4111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2" name="Google Shape;509;p21"/>
              <p:cNvSpPr/>
              <p:nvPr/>
            </p:nvSpPr>
            <p:spPr>
              <a:xfrm>
                <a:off x="8983800" y="3861720"/>
                <a:ext cx="319680" cy="319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323" name="Google Shape;510;p21"/>
              <p:cNvSpPr/>
              <p:nvPr/>
            </p:nvSpPr>
            <p:spPr>
              <a:xfrm>
                <a:off x="9029880" y="3907800"/>
                <a:ext cx="228240" cy="228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1000" bIns="81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324" name="Google Shape;511;p21"/>
          <p:cNvPicPr/>
          <p:nvPr/>
        </p:nvPicPr>
        <p:blipFill>
          <a:blip r:embed="rId4" cstate="print"/>
          <a:srcRect l="10330" t="19134" r="12747" b="11417"/>
          <a:stretch/>
        </p:blipFill>
        <p:spPr>
          <a:xfrm rot="16974600">
            <a:off x="-937440" y="-789480"/>
            <a:ext cx="2367000" cy="2086920"/>
          </a:xfrm>
          <a:prstGeom prst="rect">
            <a:avLst/>
          </a:prstGeom>
          <a:ln w="0">
            <a:noFill/>
          </a:ln>
        </p:spPr>
      </p:pic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92" name="Google Shape;721;p28"/>
          <p:cNvSpPr/>
          <p:nvPr/>
        </p:nvSpPr>
        <p:spPr>
          <a:xfrm>
            <a:off x="808200" y="3718800"/>
            <a:ext cx="425340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strike="noStrike" spc="-1">
                <a:solidFill>
                  <a:schemeClr val="dk1"/>
                </a:solidFill>
                <a:latin typeface="Roboto"/>
                <a:ea typeface="Roboto"/>
              </a:rPr>
              <a:t>CREDITS:</a:t>
            </a:r>
            <a:r>
              <a:rPr lang="en" sz="1000" b="0" strike="noStrike" spc="-1">
                <a:solidFill>
                  <a:schemeClr val="dk1"/>
                </a:solidFill>
                <a:latin typeface="Roboto"/>
                <a:ea typeface="Roboto"/>
              </a:rPr>
              <a:t> This presentation template was created by </a:t>
            </a:r>
            <a:r>
              <a:rPr lang="en" sz="1000" b="1" u="sng" strike="noStrike" spc="-1">
                <a:solidFill>
                  <a:schemeClr val="hlink"/>
                </a:solidFill>
                <a:uFillTx/>
                <a:latin typeface="Roboto"/>
                <a:ea typeface="Roboto"/>
                <a:hlinkClick r:id="rId3"/>
              </a:rPr>
              <a:t>Slidesgo</a:t>
            </a:r>
            <a:r>
              <a:rPr lang="en" sz="1000" b="0" strike="noStrike" spc="-1">
                <a:solidFill>
                  <a:schemeClr val="dk1"/>
                </a:solidFill>
                <a:latin typeface="Roboto"/>
                <a:ea typeface="Roboto"/>
              </a:rPr>
              <a:t>, and includes icons by </a:t>
            </a:r>
            <a:r>
              <a:rPr lang="en" sz="1000" b="1" u="sng" strike="noStrike" spc="-1">
                <a:solidFill>
                  <a:schemeClr val="dk1"/>
                </a:solidFill>
                <a:uFillTx/>
                <a:latin typeface="Roboto"/>
                <a:ea typeface="Roboto"/>
                <a:hlinkClick r:id="rId4"/>
              </a:rPr>
              <a:t>Flaticon</a:t>
            </a:r>
            <a:r>
              <a:rPr lang="en" sz="1000" b="0" strike="noStrike" spc="-1">
                <a:solidFill>
                  <a:schemeClr val="dk1"/>
                </a:solidFill>
                <a:latin typeface="Roboto"/>
                <a:ea typeface="Roboto"/>
              </a:rPr>
              <a:t>, and infographics &amp; images by </a:t>
            </a:r>
            <a:r>
              <a:rPr lang="en" sz="1000" b="1" u="sng" strike="noStrike" spc="-1">
                <a:solidFill>
                  <a:schemeClr val="dk1"/>
                </a:solidFill>
                <a:uFillTx/>
                <a:latin typeface="Roboto"/>
                <a:ea typeface="Roboto"/>
                <a:hlinkClick r:id="rId5"/>
              </a:rPr>
              <a:t>Freepik</a:t>
            </a:r>
            <a:r>
              <a:rPr lang="en" sz="1000" b="0" u="sng" strike="noStrike" spc="-1">
                <a:solidFill>
                  <a:schemeClr val="dk1"/>
                </a:solidFill>
                <a:uFillTx/>
                <a:latin typeface="Roboto"/>
                <a:ea typeface="Roboto"/>
              </a:rPr>
              <a:t> </a:t>
            </a:r>
            <a:endParaRPr lang="en-US" sz="1000" b="0" strike="noStrike" spc="-1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493" name="Google Shape;722;p28"/>
          <p:cNvSpPr/>
          <p:nvPr/>
        </p:nvSpPr>
        <p:spPr>
          <a:xfrm>
            <a:off x="260280" y="31320"/>
            <a:ext cx="731160" cy="767520"/>
          </a:xfrm>
          <a:prstGeom prst="star10">
            <a:avLst>
              <a:gd name="adj" fmla="val 17041"/>
              <a:gd name="hf" fmla="val 105146"/>
            </a:avLst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7040" bIns="770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494" name="Google Shape;723;p28"/>
          <p:cNvGrpSpPr/>
          <p:nvPr/>
        </p:nvGrpSpPr>
        <p:grpSpPr>
          <a:xfrm>
            <a:off x="-436680" y="799560"/>
            <a:ext cx="822600" cy="822600"/>
            <a:chOff x="-436680" y="799560"/>
            <a:chExt cx="822600" cy="822600"/>
          </a:xfrm>
        </p:grpSpPr>
        <p:sp>
          <p:nvSpPr>
            <p:cNvPr id="495" name="Google Shape;724;p28"/>
            <p:cNvSpPr/>
            <p:nvPr/>
          </p:nvSpPr>
          <p:spPr>
            <a:xfrm>
              <a:off x="-436680" y="799560"/>
              <a:ext cx="822600" cy="82260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6" name="Google Shape;725;p28"/>
            <p:cNvSpPr/>
            <p:nvPr/>
          </p:nvSpPr>
          <p:spPr>
            <a:xfrm>
              <a:off x="-394200" y="842040"/>
              <a:ext cx="737640" cy="73764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7" name="Google Shape;726;p28"/>
            <p:cNvSpPr/>
            <p:nvPr/>
          </p:nvSpPr>
          <p:spPr>
            <a:xfrm>
              <a:off x="-354240" y="881640"/>
              <a:ext cx="658080" cy="65808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8" name="Google Shape;727;p28"/>
            <p:cNvSpPr/>
            <p:nvPr/>
          </p:nvSpPr>
          <p:spPr>
            <a:xfrm>
              <a:off x="-313200" y="923040"/>
              <a:ext cx="575640" cy="57564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499" name="Google Shape;728;p28"/>
            <p:cNvSpPr/>
            <p:nvPr/>
          </p:nvSpPr>
          <p:spPr>
            <a:xfrm>
              <a:off x="-271800" y="964080"/>
              <a:ext cx="493560" cy="49356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0" name="Google Shape;729;p28"/>
            <p:cNvSpPr/>
            <p:nvPr/>
          </p:nvSpPr>
          <p:spPr>
            <a:xfrm>
              <a:off x="-230760" y="1005120"/>
              <a:ext cx="411120" cy="41112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1" name="Google Shape;730;p28"/>
            <p:cNvSpPr/>
            <p:nvPr/>
          </p:nvSpPr>
          <p:spPr>
            <a:xfrm>
              <a:off x="-185040" y="1050840"/>
              <a:ext cx="319680" cy="31968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502" name="Google Shape;731;p28"/>
            <p:cNvSpPr/>
            <p:nvPr/>
          </p:nvSpPr>
          <p:spPr>
            <a:xfrm>
              <a:off x="-139320" y="1096560"/>
              <a:ext cx="228240" cy="22824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503" name="Google Shape;732;p28"/>
          <p:cNvPicPr/>
          <p:nvPr/>
        </p:nvPicPr>
        <p:blipFill>
          <a:blip r:embed="rId6" cstate="print"/>
          <a:srcRect l="51169" t="4835" b="80959"/>
          <a:stretch/>
        </p:blipFill>
        <p:spPr>
          <a:xfrm rot="10800000" flipH="1">
            <a:off x="8013240" y="4482000"/>
            <a:ext cx="2329200" cy="661320"/>
          </a:xfrm>
          <a:prstGeom prst="rect">
            <a:avLst/>
          </a:prstGeom>
          <a:ln w="0">
            <a:noFill/>
          </a:ln>
        </p:spPr>
      </p:pic>
      <p:sp>
        <p:nvSpPr>
          <p:cNvPr id="504" name="Google Shape;733;p28"/>
          <p:cNvSpPr/>
          <p:nvPr/>
        </p:nvSpPr>
        <p:spPr>
          <a:xfrm flipH="1">
            <a:off x="196920" y="1798200"/>
            <a:ext cx="273960" cy="27396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505" name="Google Shape;734;p28"/>
          <p:cNvGrpSpPr/>
          <p:nvPr/>
        </p:nvGrpSpPr>
        <p:grpSpPr>
          <a:xfrm>
            <a:off x="8767080" y="4053240"/>
            <a:ext cx="32400" cy="273960"/>
            <a:chOff x="8767080" y="4053240"/>
            <a:chExt cx="32400" cy="273960"/>
          </a:xfrm>
        </p:grpSpPr>
        <p:sp>
          <p:nvSpPr>
            <p:cNvPr id="506" name="Google Shape;735;p28"/>
            <p:cNvSpPr/>
            <p:nvPr/>
          </p:nvSpPr>
          <p:spPr>
            <a:xfrm rot="5400000">
              <a:off x="8767080" y="40532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7" name="Google Shape;736;p28"/>
            <p:cNvSpPr/>
            <p:nvPr/>
          </p:nvSpPr>
          <p:spPr>
            <a:xfrm rot="5400000">
              <a:off x="8767080" y="411372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8" name="Google Shape;737;p28"/>
            <p:cNvSpPr/>
            <p:nvPr/>
          </p:nvSpPr>
          <p:spPr>
            <a:xfrm rot="5400000">
              <a:off x="8767080" y="41738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09" name="Google Shape;738;p28"/>
            <p:cNvSpPr/>
            <p:nvPr/>
          </p:nvSpPr>
          <p:spPr>
            <a:xfrm rot="5400000">
              <a:off x="8767080" y="423432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510" name="Google Shape;739;p28"/>
            <p:cNvSpPr/>
            <p:nvPr/>
          </p:nvSpPr>
          <p:spPr>
            <a:xfrm rot="5400000">
              <a:off x="8767080" y="429480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1671840" y="1242000"/>
            <a:ext cx="5808240" cy="119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500" b="0" strike="noStrike" spc="-1">
                <a:solidFill>
                  <a:schemeClr val="dk1"/>
                </a:solidFill>
                <a:latin typeface="Arial"/>
              </a:rPr>
              <a:t>Click to edit the title text format</a:t>
            </a:r>
          </a:p>
        </p:txBody>
      </p:sp>
      <p:pic>
        <p:nvPicPr>
          <p:cNvPr id="701" name="Google Shape;209;p9"/>
          <p:cNvPicPr/>
          <p:nvPr/>
        </p:nvPicPr>
        <p:blipFill>
          <a:blip r:embed="rId3" cstate="print">
            <a:alphaModFix amt="58000"/>
          </a:blip>
          <a:srcRect l="2380" r="54203" b="55966"/>
          <a:stretch/>
        </p:blipFill>
        <p:spPr>
          <a:xfrm rot="14701800">
            <a:off x="7404120" y="3762000"/>
            <a:ext cx="2896560" cy="2853720"/>
          </a:xfrm>
          <a:prstGeom prst="rect">
            <a:avLst/>
          </a:prstGeom>
          <a:ln w="0">
            <a:noFill/>
          </a:ln>
        </p:spPr>
      </p:pic>
      <p:sp>
        <p:nvSpPr>
          <p:cNvPr id="702" name="Google Shape;210;p9"/>
          <p:cNvSpPr/>
          <p:nvPr/>
        </p:nvSpPr>
        <p:spPr>
          <a:xfrm>
            <a:off x="7283520" y="4683960"/>
            <a:ext cx="273960" cy="273960"/>
          </a:xfrm>
          <a:prstGeom prst="mathPlus">
            <a:avLst>
              <a:gd name="adj1" fmla="val 6854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360" bIns="9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FFFFFF"/>
              </a:solidFill>
              <a:latin typeface="OpenSymbol"/>
            </a:endParaRPr>
          </a:p>
        </p:txBody>
      </p:sp>
      <p:grpSp>
        <p:nvGrpSpPr>
          <p:cNvPr id="703" name="Google Shape;211;p9"/>
          <p:cNvGrpSpPr/>
          <p:nvPr/>
        </p:nvGrpSpPr>
        <p:grpSpPr>
          <a:xfrm>
            <a:off x="8721720" y="3652560"/>
            <a:ext cx="822600" cy="822600"/>
            <a:chOff x="8721720" y="3652560"/>
            <a:chExt cx="822600" cy="822600"/>
          </a:xfrm>
        </p:grpSpPr>
        <p:sp>
          <p:nvSpPr>
            <p:cNvPr id="704" name="Google Shape;212;p9"/>
            <p:cNvSpPr/>
            <p:nvPr/>
          </p:nvSpPr>
          <p:spPr>
            <a:xfrm>
              <a:off x="8721720" y="3652560"/>
              <a:ext cx="822600" cy="82260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5" name="Google Shape;213;p9"/>
            <p:cNvSpPr/>
            <p:nvPr/>
          </p:nvSpPr>
          <p:spPr>
            <a:xfrm>
              <a:off x="8764200" y="3695040"/>
              <a:ext cx="737640" cy="73764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6" name="Google Shape;214;p9"/>
            <p:cNvSpPr/>
            <p:nvPr/>
          </p:nvSpPr>
          <p:spPr>
            <a:xfrm>
              <a:off x="8803800" y="3734640"/>
              <a:ext cx="658080" cy="65808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7" name="Google Shape;215;p9"/>
            <p:cNvSpPr/>
            <p:nvPr/>
          </p:nvSpPr>
          <p:spPr>
            <a:xfrm>
              <a:off x="8845200" y="3776040"/>
              <a:ext cx="575640" cy="57564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8" name="Google Shape;216;p9"/>
            <p:cNvSpPr/>
            <p:nvPr/>
          </p:nvSpPr>
          <p:spPr>
            <a:xfrm>
              <a:off x="8886240" y="3817080"/>
              <a:ext cx="493560" cy="49356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09" name="Google Shape;217;p9"/>
            <p:cNvSpPr/>
            <p:nvPr/>
          </p:nvSpPr>
          <p:spPr>
            <a:xfrm>
              <a:off x="8927280" y="3858120"/>
              <a:ext cx="411120" cy="41112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0" name="Google Shape;218;p9"/>
            <p:cNvSpPr/>
            <p:nvPr/>
          </p:nvSpPr>
          <p:spPr>
            <a:xfrm>
              <a:off x="8973000" y="3903840"/>
              <a:ext cx="319680" cy="31968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711" name="Google Shape;219;p9"/>
            <p:cNvSpPr/>
            <p:nvPr/>
          </p:nvSpPr>
          <p:spPr>
            <a:xfrm>
              <a:off x="9018720" y="3949560"/>
              <a:ext cx="228240" cy="228240"/>
            </a:xfrm>
            <a:prstGeom prst="ellipse">
              <a:avLst/>
            </a:prstGeom>
            <a:noFill/>
            <a:ln w="9525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grpSp>
        <p:nvGrpSpPr>
          <p:cNvPr id="712" name="Google Shape;220;p9"/>
          <p:cNvGrpSpPr/>
          <p:nvPr/>
        </p:nvGrpSpPr>
        <p:grpSpPr>
          <a:xfrm>
            <a:off x="8628480" y="3083760"/>
            <a:ext cx="32400" cy="273960"/>
            <a:chOff x="8628480" y="3083760"/>
            <a:chExt cx="32400" cy="273960"/>
          </a:xfrm>
        </p:grpSpPr>
        <p:sp>
          <p:nvSpPr>
            <p:cNvPr id="713" name="Google Shape;221;p9"/>
            <p:cNvSpPr/>
            <p:nvPr/>
          </p:nvSpPr>
          <p:spPr>
            <a:xfrm rot="16200000" flipV="1">
              <a:off x="8628480" y="332532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4" name="Google Shape;222;p9"/>
            <p:cNvSpPr/>
            <p:nvPr/>
          </p:nvSpPr>
          <p:spPr>
            <a:xfrm rot="16200000" flipV="1">
              <a:off x="8628480" y="32648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5" name="Google Shape;223;p9"/>
            <p:cNvSpPr/>
            <p:nvPr/>
          </p:nvSpPr>
          <p:spPr>
            <a:xfrm rot="16200000" flipV="1">
              <a:off x="8628480" y="320436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6" name="Google Shape;224;p9"/>
            <p:cNvSpPr/>
            <p:nvPr/>
          </p:nvSpPr>
          <p:spPr>
            <a:xfrm rot="16200000" flipV="1">
              <a:off x="8628480" y="314424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sp>
          <p:nvSpPr>
            <p:cNvPr id="717" name="Google Shape;225;p9"/>
            <p:cNvSpPr/>
            <p:nvPr/>
          </p:nvSpPr>
          <p:spPr>
            <a:xfrm rot="16200000" flipV="1">
              <a:off x="8628480" y="3083760"/>
              <a:ext cx="32400" cy="3240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1520" bIns="1152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kysmart.ru/articles/english/populyarnye-sokrasheniya-v-anglijskom" TargetMode="External"/><Relationship Id="rId2" Type="http://schemas.openxmlformats.org/officeDocument/2006/relationships/hyperlink" Target="https://dictionary.cambridge.org/" TargetMode="Externa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1214414" y="1142990"/>
            <a:ext cx="6586558" cy="19998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100" b="0" strike="noStrike" spc="-1" dirty="0">
                <a:solidFill>
                  <a:schemeClr val="dk1"/>
                </a:solidFill>
                <a:latin typeface="Times New Roman" pitchFamily="18" charset="0"/>
                <a:ea typeface="DM Sans Medium"/>
                <a:cs typeface="Times New Roman" pitchFamily="18" charset="0"/>
              </a:rPr>
              <a:t>Английские </a:t>
            </a:r>
            <a:r>
              <a:rPr lang="en" sz="61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DM Sans Medium"/>
                <a:cs typeface="Times New Roman" pitchFamily="18" charset="0"/>
              </a:rPr>
              <a:t>сокращения </a:t>
            </a:r>
            <a:endParaRPr lang="fr-FR" sz="61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 type="subTitle"/>
          </p:nvPr>
        </p:nvSpPr>
        <p:spPr>
          <a:xfrm>
            <a:off x="1500166" y="3214692"/>
            <a:ext cx="6086160" cy="45684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600" b="0" strike="noStrike" spc="-1" dirty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Популярные сокращения в электронной переписке</a:t>
            </a:r>
            <a:endParaRPr lang="en-US" sz="16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57884" y="3786196"/>
            <a:ext cx="20002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err="1" smtClean="0">
                <a:latin typeface="Times New Roman" pitchFamily="18" charset="0"/>
                <a:cs typeface="Times New Roman" pitchFamily="18" charset="0"/>
              </a:rPr>
              <a:t>Выполнила:Ван</a:t>
            </a:r>
            <a:r>
              <a:rPr lang="ru-RU" sz="1100" dirty="0" smtClean="0">
                <a:latin typeface="Times New Roman" pitchFamily="18" charset="0"/>
                <a:cs typeface="Times New Roman" pitchFamily="18" charset="0"/>
              </a:rPr>
              <a:t> Валерия </a:t>
            </a:r>
          </a:p>
          <a:p>
            <a:r>
              <a:rPr lang="ru-RU" sz="1100" dirty="0" smtClean="0">
                <a:latin typeface="Times New Roman" pitchFamily="18" charset="0"/>
                <a:cs typeface="Times New Roman" pitchFamily="18" charset="0"/>
              </a:rPr>
              <a:t>          ученица 9 класса.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6446" y="4214824"/>
            <a:ext cx="2286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Руководитель:Соломаха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Л.Э.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86182" y="4774168"/>
            <a:ext cx="1529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Иркутск,2025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500034" y="142858"/>
            <a:ext cx="3076200" cy="6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1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Актуальность</a:t>
            </a:r>
            <a:endParaRPr lang="fr-FR" sz="3000" b="1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subTitle"/>
          </p:nvPr>
        </p:nvSpPr>
        <p:spPr>
          <a:xfrm>
            <a:off x="642910" y="857238"/>
            <a:ext cx="6572296" cy="75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Я считаю эту тему актуальной</a:t>
            </a:r>
            <a:r>
              <a:rPr lang="en-US" sz="2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endParaRPr lang="ru-RU" sz="2400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пот</a:t>
            </a: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ому что учу английский с раннего возраста и часто использую его в электронных </a:t>
            </a:r>
            <a:r>
              <a:rPr lang="ru-RU" sz="2400" b="0" strike="noStrike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переписках.Он</a:t>
            </a: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является самым распространенным языком </a:t>
            </a:r>
            <a:r>
              <a:rPr lang="ru-RU" sz="2400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мира,в</a:t>
            </a:r>
            <a:r>
              <a:rPr lang="ru-RU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современный век без него не </a:t>
            </a:r>
            <a:r>
              <a:rPr lang="ru-RU" sz="2400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обойтись.Также</a:t>
            </a:r>
            <a:r>
              <a:rPr lang="ru-RU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условиях </a:t>
            </a:r>
            <a:r>
              <a:rPr lang="ru-RU" sz="2400" b="0" strike="noStrike" spc="-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цифровизации</a:t>
            </a:r>
            <a:r>
              <a:rPr lang="ru-RU" sz="2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и глобализации переписка стала ключевым инструментом коммуникации в бизнесе</a:t>
            </a:r>
            <a:r>
              <a:rPr lang="ru-RU" sz="2400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 повседневной жизни</a:t>
            </a:r>
            <a:r>
              <a:rPr lang="ru-RU" sz="2400" spc="-1" dirty="0" smtClean="0">
                <a:solidFill>
                  <a:srgbClr val="000000"/>
                </a:solidFill>
                <a:latin typeface="OpenSymbol"/>
              </a:rPr>
              <a:t>.</a:t>
            </a:r>
            <a:endParaRPr lang="en-US" sz="2400" b="0" strike="noStrike" spc="-1" dirty="0">
              <a:solidFill>
                <a:srgbClr val="000000"/>
              </a:solidFill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2714612" y="214296"/>
            <a:ext cx="2999880" cy="628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000" b="0" strike="noStrike" spc="-1" dirty="0" smtClean="0">
                <a:solidFill>
                  <a:schemeClr val="dk1"/>
                </a:solidFill>
                <a:latin typeface="Arial"/>
                <a:cs typeface="Arial"/>
              </a:rPr>
              <a:t>  </a:t>
            </a:r>
            <a:endParaRPr lang="fr-FR" sz="3000" b="0" strike="noStrike" spc="-1" dirty="0">
              <a:solidFill>
                <a:schemeClr val="dk1"/>
              </a:solidFill>
              <a:latin typeface="Arial"/>
            </a:endParaRPr>
          </a:p>
        </p:txBody>
      </p:sp>
      <p:sp>
        <p:nvSpPr>
          <p:cNvPr id="726" name="PlaceHolder 2"/>
          <p:cNvSpPr>
            <a:spLocks noGrp="1"/>
          </p:cNvSpPr>
          <p:nvPr>
            <p:ph type="subTitle"/>
          </p:nvPr>
        </p:nvSpPr>
        <p:spPr>
          <a:xfrm>
            <a:off x="857224" y="571486"/>
            <a:ext cx="7429552" cy="10001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algn="l">
              <a:tabLst>
                <a:tab pos="0" algn="l"/>
              </a:tabLst>
            </a:pPr>
            <a:endParaRPr lang="ru-RU" sz="1200" dirty="0" smtClean="0"/>
          </a:p>
          <a:p>
            <a:pPr indent="0" algn="ctr">
              <a:lnSpc>
                <a:spcPct val="100000"/>
              </a:lnSpc>
              <a:tabLst>
                <a:tab pos="0" algn="l"/>
              </a:tabLst>
            </a:pPr>
            <a:endParaRPr lang="en-US" sz="12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4348" y="428610"/>
            <a:ext cx="70723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Цель проекта: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Доступное и легкое объяснение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сокращений.Исследовать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роль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виды и особенности употребления английских сокращений в электронной переписке.</a:t>
            </a:r>
          </a:p>
          <a:p>
            <a:endParaRPr lang="ru-RU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357290" y="25717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714348" y="1142990"/>
            <a:ext cx="49196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Гипотеза: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Употребление и понимание английских сокращений в переписке повысит эффективность и удобство общения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714348" y="1928808"/>
            <a:ext cx="3334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Объект исследования: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английский язык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4348" y="2285998"/>
            <a:ext cx="47375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Предмет исследования: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изучение английских сокращений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4348" y="2571750"/>
            <a:ext cx="1214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4282" y="2857502"/>
            <a:ext cx="46145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·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Поиск информации</a:t>
            </a:r>
          </a:p>
          <a:p>
            <a:pPr lvl="1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Классификация сокращений по типам и функциям</a:t>
            </a:r>
          </a:p>
          <a:p>
            <a:pPr lvl="1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Анализ их употребления в разных контекстах</a:t>
            </a:r>
          </a:p>
          <a:p>
            <a:pPr lvl="1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Создание продукта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4348" y="3786196"/>
            <a:ext cx="700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Целевая группа: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Люди изучающие английский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язык,маркетологи,пользователи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соц-сетей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714348" y="4286262"/>
            <a:ext cx="65722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Ожидаемый результат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Изучить английские сокращения и узнать как они могут улучшить качество общения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title"/>
          </p:nvPr>
        </p:nvSpPr>
        <p:spPr>
          <a:xfrm>
            <a:off x="357158" y="71420"/>
            <a:ext cx="3800160" cy="85723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b="1" strike="noStrike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Понятие-сокращения</a:t>
            </a:r>
            <a:r>
              <a:rPr lang="ru-RU" b="1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в электронных переписках</a:t>
            </a:r>
            <a:r>
              <a:rPr lang="ru-RU" sz="24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fr-FR" sz="24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30" name="Google Shape;860;p38"/>
          <p:cNvGrpSpPr/>
          <p:nvPr/>
        </p:nvGrpSpPr>
        <p:grpSpPr>
          <a:xfrm>
            <a:off x="6167520" y="1500180"/>
            <a:ext cx="2976480" cy="2669400"/>
            <a:chOff x="5454000" y="1236960"/>
            <a:chExt cx="2976480" cy="2669400"/>
          </a:xfrm>
        </p:grpSpPr>
        <p:grpSp>
          <p:nvGrpSpPr>
            <p:cNvPr id="731" name="Google Shape;862;p38"/>
            <p:cNvGrpSpPr/>
            <p:nvPr/>
          </p:nvGrpSpPr>
          <p:grpSpPr>
            <a:xfrm>
              <a:off x="5636880" y="2809440"/>
              <a:ext cx="1096560" cy="1096560"/>
              <a:chOff x="5636880" y="2809440"/>
              <a:chExt cx="1096560" cy="1096560"/>
            </a:xfrm>
          </p:grpSpPr>
          <p:sp>
            <p:nvSpPr>
              <p:cNvPr id="732" name="Google Shape;863;p38"/>
              <p:cNvSpPr/>
              <p:nvPr/>
            </p:nvSpPr>
            <p:spPr>
              <a:xfrm>
                <a:off x="5636880" y="280944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3" name="Google Shape;864;p38"/>
              <p:cNvSpPr/>
              <p:nvPr/>
            </p:nvSpPr>
            <p:spPr>
              <a:xfrm>
                <a:off x="5693400" y="286596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4" name="Google Shape;865;p38"/>
              <p:cNvSpPr/>
              <p:nvPr/>
            </p:nvSpPr>
            <p:spPr>
              <a:xfrm>
                <a:off x="5746680" y="291888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5" name="Google Shape;866;p38"/>
              <p:cNvSpPr/>
              <p:nvPr/>
            </p:nvSpPr>
            <p:spPr>
              <a:xfrm>
                <a:off x="5801400" y="297396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6" name="Google Shape;867;p38"/>
              <p:cNvSpPr/>
              <p:nvPr/>
            </p:nvSpPr>
            <p:spPr>
              <a:xfrm>
                <a:off x="5856480" y="302868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7" name="Google Shape;868;p38"/>
              <p:cNvSpPr/>
              <p:nvPr/>
            </p:nvSpPr>
            <p:spPr>
              <a:xfrm>
                <a:off x="5911200" y="30837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8" name="Google Shape;869;p38"/>
              <p:cNvSpPr/>
              <p:nvPr/>
            </p:nvSpPr>
            <p:spPr>
              <a:xfrm>
                <a:off x="5972040" y="314460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39" name="Google Shape;870;p38"/>
              <p:cNvSpPr/>
              <p:nvPr/>
            </p:nvSpPr>
            <p:spPr>
              <a:xfrm>
                <a:off x="6033240" y="32058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40" name="Google Shape;871;p38"/>
            <p:cNvSpPr/>
            <p:nvPr/>
          </p:nvSpPr>
          <p:spPr>
            <a:xfrm flipH="1">
              <a:off x="7728120" y="153144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42844" y="857238"/>
            <a:ext cx="75009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Сокращения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переписке-это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сокращенные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версии,чаще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всего аббревиатуры слов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фраз,которые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помогают экономить время для пространства при наборе текста.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8596" y="1857370"/>
            <a:ext cx="1841851" cy="338554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Типы сокращений: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2844" y="2285998"/>
            <a:ext cx="759682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Аббревиатуры:Сокращения,образованные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из первых букв(например,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ASAP-As Soon As Possible)</a:t>
            </a:r>
          </a:p>
          <a:p>
            <a:pPr>
              <a:buFont typeface="Arial" pitchFamily="34" charset="0"/>
              <a:buChar char="•"/>
            </a:pP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Акронимы:Сокращения,произносимые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как слова(например,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NASA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buFont typeface="Arial" pitchFamily="34" charset="0"/>
              <a:buChar char="•"/>
            </a:pP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Усечения:Сокращения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части слова(например,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info-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вместо 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information</a:t>
            </a:r>
            <a:r>
              <a:rPr lang="ru-RU" sz="1400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Заимствования из цифровой культуры: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LOL(Laugh Out Load)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ru-RU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57158" y="3286130"/>
            <a:ext cx="2409634" cy="369332"/>
          </a:xfrm>
          <a:prstGeom prst="rect">
            <a:avLst/>
          </a:prstGeom>
          <a:solidFill>
            <a:schemeClr val="tx2"/>
          </a:solidFill>
          <a:ln>
            <a:solidFill>
              <a:schemeClr val="accent3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Функции сокращений: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2844" y="3714758"/>
            <a:ext cx="5830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Экономия времени и места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неформального тона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Указание на принадлежность к профессиональной среде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1000100" y="357172"/>
            <a:ext cx="581004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Исторический контекст</a:t>
            </a:r>
            <a:endParaRPr lang="fr-FR" sz="48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2" name="PlaceHolder 2"/>
          <p:cNvSpPr>
            <a:spLocks noGrp="1"/>
          </p:cNvSpPr>
          <p:nvPr>
            <p:ph type="subTitle"/>
          </p:nvPr>
        </p:nvSpPr>
        <p:spPr>
          <a:xfrm>
            <a:off x="5857884" y="214296"/>
            <a:ext cx="2928958" cy="57150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500" b="0" strike="noStrike" spc="-1" dirty="0" smtClean="0">
                <a:solidFill>
                  <a:schemeClr val="tx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Сокращения в английском языке имеют долгую историю и начали развиватьс</a:t>
            </a:r>
            <a:r>
              <a:rPr lang="ru-RU" sz="1500" spc="-1" dirty="0" smtClean="0">
                <a:solidFill>
                  <a:schemeClr val="tx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я с самого начала письменной речи.</a:t>
            </a:r>
            <a:r>
              <a:rPr lang="ru-RU" sz="1500" b="0" strike="noStrike" spc="-1" dirty="0" smtClean="0">
                <a:solidFill>
                  <a:schemeClr val="tx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500" b="0" strike="noStrike" spc="-1" dirty="0">
              <a:solidFill>
                <a:schemeClr val="tx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43" name="Google Shape;842;p37"/>
          <p:cNvGrpSpPr/>
          <p:nvPr/>
        </p:nvGrpSpPr>
        <p:grpSpPr>
          <a:xfrm>
            <a:off x="857224" y="71420"/>
            <a:ext cx="928694" cy="1285866"/>
            <a:chOff x="143640" y="450000"/>
            <a:chExt cx="1097280" cy="1716120"/>
          </a:xfrm>
        </p:grpSpPr>
        <p:grpSp>
          <p:nvGrpSpPr>
            <p:cNvPr id="744" name="Google Shape;844;p37"/>
            <p:cNvGrpSpPr/>
            <p:nvPr/>
          </p:nvGrpSpPr>
          <p:grpSpPr>
            <a:xfrm>
              <a:off x="144360" y="450000"/>
              <a:ext cx="1096560" cy="1096560"/>
              <a:chOff x="144360" y="450000"/>
              <a:chExt cx="1096560" cy="1096560"/>
            </a:xfrm>
          </p:grpSpPr>
          <p:sp>
            <p:nvSpPr>
              <p:cNvPr id="745" name="Google Shape;845;p37"/>
              <p:cNvSpPr/>
              <p:nvPr/>
            </p:nvSpPr>
            <p:spPr>
              <a:xfrm>
                <a:off x="144360" y="45000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6" name="Google Shape;846;p37"/>
              <p:cNvSpPr/>
              <p:nvPr/>
            </p:nvSpPr>
            <p:spPr>
              <a:xfrm>
                <a:off x="200880" y="50652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7" name="Google Shape;847;p37"/>
              <p:cNvSpPr/>
              <p:nvPr/>
            </p:nvSpPr>
            <p:spPr>
              <a:xfrm>
                <a:off x="253800" y="559440"/>
                <a:ext cx="877681" cy="877681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8" name="Google Shape;848;p37"/>
              <p:cNvSpPr/>
              <p:nvPr/>
            </p:nvSpPr>
            <p:spPr>
              <a:xfrm>
                <a:off x="308880" y="61452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49" name="Google Shape;849;p37"/>
              <p:cNvSpPr/>
              <p:nvPr/>
            </p:nvSpPr>
            <p:spPr>
              <a:xfrm>
                <a:off x="363600" y="6692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0" name="Google Shape;850;p37"/>
              <p:cNvSpPr/>
              <p:nvPr/>
            </p:nvSpPr>
            <p:spPr>
              <a:xfrm>
                <a:off x="418680" y="7239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1" name="Google Shape;851;p37"/>
              <p:cNvSpPr/>
              <p:nvPr/>
            </p:nvSpPr>
            <p:spPr>
              <a:xfrm>
                <a:off x="479520" y="78516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52" name="Google Shape;852;p37"/>
              <p:cNvSpPr/>
              <p:nvPr/>
            </p:nvSpPr>
            <p:spPr>
              <a:xfrm>
                <a:off x="540360" y="8460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53" name="Google Shape;853;p37"/>
            <p:cNvSpPr/>
            <p:nvPr/>
          </p:nvSpPr>
          <p:spPr>
            <a:xfrm flipH="1">
              <a:off x="143640" y="189216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1406" y="1571618"/>
            <a:ext cx="4214842" cy="846386"/>
          </a:xfrm>
          <a:prstGeom prst="rect">
            <a:avLst/>
          </a:prstGeom>
          <a:noFill/>
        </p:spPr>
        <p:txBody>
          <a:bodyPr wrap="square" numCol="1" spcCol="3600000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1.Древний английский(450-1150гг)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 ранние века сокращения использовались в основном в религиозных текстах и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манускриптах.Например,монахи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сокращали слова для экономии места на пергаменте</a:t>
            </a:r>
            <a:r>
              <a:rPr lang="ru-RU" sz="1300" dirty="0" smtClean="0">
                <a:latin typeface="Arial"/>
                <a:cs typeface="Arial"/>
              </a:rPr>
              <a:t>.</a:t>
            </a:r>
            <a:endParaRPr lang="ru-RU" sz="13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4214810" y="1500180"/>
            <a:ext cx="492919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2.Среднеанглийский(1150-1500гг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В этот период сокращения продолжали использоваться</a:t>
            </a:r>
            <a:r>
              <a:rPr lang="en-US" sz="13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особенно в юридических и деловых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документах.Сокращения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могли включать аббревиатуры для часто употребляемых терминов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0" y="2571750"/>
            <a:ext cx="41433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3.Ренессанс и 17-18 века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 развитием науки и литературы появились новые аббревиатуры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особенно в научных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текстах.Например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латинские термины часто сокращались для удобства. </a:t>
            </a:r>
            <a:r>
              <a:rPr lang="ru-RU" sz="1200" dirty="0" smtClean="0">
                <a:latin typeface="Arial"/>
                <a:cs typeface="Arial"/>
              </a:rPr>
              <a:t>"</a:t>
            </a:r>
            <a:endParaRPr lang="ru-RU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4214810" y="2571750"/>
            <a:ext cx="43577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4.19 век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 появлением печатной прессы и массовой коммуникации сокращения стали более распространенными.Появились такие аббревиатуры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как "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etc"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(et cetera)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3571882"/>
            <a:ext cx="37861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.20 век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Сокращения стали неотъемлемой частью языка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особенно с развитием технологий и массовой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культуры.Появились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новые формы сокращений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такие как акронимы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а также сленговые сокращения.</a:t>
            </a:r>
          </a:p>
          <a:p>
            <a:endParaRPr lang="ru-RU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4214810" y="3500444"/>
            <a:ext cx="40005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6.Современный период</a:t>
            </a:r>
          </a:p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 настоящее время сокращения продолжают развиваться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 наибольшей степени в цифровом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общении.Социальные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сети и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мессенджеры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способстовали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появлению новых форм сокращений и акронимов.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PlaceHolder 1"/>
          <p:cNvSpPr>
            <a:spLocks noGrp="1"/>
          </p:cNvSpPr>
          <p:nvPr>
            <p:ph type="title"/>
          </p:nvPr>
        </p:nvSpPr>
        <p:spPr>
          <a:xfrm>
            <a:off x="1285852" y="142858"/>
            <a:ext cx="581004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8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1.Методология исследования</a:t>
            </a:r>
            <a:endParaRPr lang="fr-FR" sz="28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9" name="PlaceHolder 2"/>
          <p:cNvSpPr>
            <a:spLocks noGrp="1"/>
          </p:cNvSpPr>
          <p:nvPr>
            <p:ph type="subTitle"/>
          </p:nvPr>
        </p:nvSpPr>
        <p:spPr>
          <a:xfrm>
            <a:off x="1214414" y="1357304"/>
            <a:ext cx="6572296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Font typeface="Arial" pitchFamily="34" charset="0"/>
              <a:buChar char="•"/>
              <a:tabLst>
                <a:tab pos="0" algn="l"/>
              </a:tabLst>
            </a:pPr>
            <a:r>
              <a:rPr lang="ru-RU" sz="2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Качественный </a:t>
            </a:r>
            <a:r>
              <a:rPr lang="ru-RU" sz="2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Анализ:Изучение</a:t>
            </a:r>
            <a:r>
              <a:rPr lang="ru-RU" sz="2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50 электронных писем из </a:t>
            </a:r>
            <a:r>
              <a:rPr lang="ru-RU" sz="2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деловой,академической</a:t>
            </a:r>
            <a:r>
              <a:rPr lang="ru-RU" sz="2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и личной переписки.</a:t>
            </a:r>
          </a:p>
          <a:p>
            <a:pPr indent="0" algn="l">
              <a:lnSpc>
                <a:spcPct val="100000"/>
              </a:lnSpc>
              <a:buFont typeface="Arial" pitchFamily="34" charset="0"/>
              <a:buChar char="•"/>
              <a:tabLst>
                <a:tab pos="0" algn="l"/>
              </a:tabLst>
            </a:pPr>
            <a:r>
              <a:rPr lang="ru-RU" sz="24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Количественный </a:t>
            </a:r>
            <a:r>
              <a:rPr lang="ru-RU" sz="2400" b="0" strike="noStrike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анализ:Подсчет</a:t>
            </a:r>
            <a:r>
              <a:rPr lang="ru-RU" sz="24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частотности сокращений.</a:t>
            </a:r>
          </a:p>
          <a:p>
            <a:pPr indent="0" algn="l">
              <a:lnSpc>
                <a:spcPct val="100000"/>
              </a:lnSpc>
              <a:buFont typeface="Arial" pitchFamily="34" charset="0"/>
              <a:buChar char="•"/>
              <a:tabLst>
                <a:tab pos="0" algn="l"/>
              </a:tabLst>
            </a:pPr>
            <a:r>
              <a:rPr lang="ru-RU" sz="2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Опрос:Анкетирование</a:t>
            </a:r>
            <a:r>
              <a:rPr lang="ru-RU" sz="2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30 респондентов(носители изучающие английский язык) о восприятии сокращений</a:t>
            </a:r>
            <a:r>
              <a:rPr lang="ru-RU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60" name="Google Shape;842;p37"/>
          <p:cNvGrpSpPr/>
          <p:nvPr/>
        </p:nvGrpSpPr>
        <p:grpSpPr>
          <a:xfrm>
            <a:off x="-947520" y="-1339200"/>
            <a:ext cx="4615560" cy="4674960"/>
            <a:chOff x="-947520" y="-1339200"/>
            <a:chExt cx="4615560" cy="4674960"/>
          </a:xfrm>
        </p:grpSpPr>
        <p:grpSp>
          <p:nvGrpSpPr>
            <p:cNvPr id="761" name="Google Shape;844;p37"/>
            <p:cNvGrpSpPr/>
            <p:nvPr/>
          </p:nvGrpSpPr>
          <p:grpSpPr>
            <a:xfrm>
              <a:off x="144360" y="450000"/>
              <a:ext cx="1096560" cy="1096560"/>
              <a:chOff x="144360" y="450000"/>
              <a:chExt cx="1096560" cy="1096560"/>
            </a:xfrm>
          </p:grpSpPr>
          <p:sp>
            <p:nvSpPr>
              <p:cNvPr id="762" name="Google Shape;845;p37"/>
              <p:cNvSpPr/>
              <p:nvPr/>
            </p:nvSpPr>
            <p:spPr>
              <a:xfrm>
                <a:off x="144360" y="45000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3" name="Google Shape;846;p37"/>
              <p:cNvSpPr/>
              <p:nvPr/>
            </p:nvSpPr>
            <p:spPr>
              <a:xfrm>
                <a:off x="200880" y="50652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4" name="Google Shape;847;p37"/>
              <p:cNvSpPr/>
              <p:nvPr/>
            </p:nvSpPr>
            <p:spPr>
              <a:xfrm>
                <a:off x="253800" y="55944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5" name="Google Shape;848;p37"/>
              <p:cNvSpPr/>
              <p:nvPr/>
            </p:nvSpPr>
            <p:spPr>
              <a:xfrm>
                <a:off x="308880" y="61452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6" name="Google Shape;849;p37"/>
              <p:cNvSpPr/>
              <p:nvPr/>
            </p:nvSpPr>
            <p:spPr>
              <a:xfrm>
                <a:off x="363600" y="6692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7" name="Google Shape;850;p37"/>
              <p:cNvSpPr/>
              <p:nvPr/>
            </p:nvSpPr>
            <p:spPr>
              <a:xfrm>
                <a:off x="418680" y="7239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8" name="Google Shape;851;p37"/>
              <p:cNvSpPr/>
              <p:nvPr/>
            </p:nvSpPr>
            <p:spPr>
              <a:xfrm>
                <a:off x="479520" y="78516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69" name="Google Shape;852;p37"/>
              <p:cNvSpPr/>
              <p:nvPr/>
            </p:nvSpPr>
            <p:spPr>
              <a:xfrm>
                <a:off x="540360" y="8460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70" name="Google Shape;853;p37"/>
            <p:cNvSpPr/>
            <p:nvPr/>
          </p:nvSpPr>
          <p:spPr>
            <a:xfrm flipH="1">
              <a:off x="143640" y="189216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title"/>
          </p:nvPr>
        </p:nvSpPr>
        <p:spPr>
          <a:xfrm>
            <a:off x="142844" y="142858"/>
            <a:ext cx="3143272" cy="1142990"/>
          </a:xfrm>
          <a:prstGeom prst="rect">
            <a:avLst/>
          </a:prstGeom>
          <a:noFill/>
          <a:ln w="0">
            <a:solidFill>
              <a:schemeClr val="accent2"/>
            </a:solidFill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Сокращения для экономии времени и соблюдения формальности</a:t>
            </a:r>
            <a:endParaRPr lang="fr-FR" sz="20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Диаграмма 14"/>
          <p:cNvGraphicFramePr/>
          <p:nvPr/>
        </p:nvGraphicFramePr>
        <p:xfrm>
          <a:off x="3143240" y="571486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14282" y="1571618"/>
            <a:ext cx="42148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Наиболее частые сокращения: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ASAP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(36%)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As Soon As Possible-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как можно скорее.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FYI(25%)For Your Information-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 вашему сведению.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EOD(18%)End Of Day-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 конца рабочего дня.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TBD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(13%)-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To Be Determined-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будет определенно позже.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BTW(8%)By The Way-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кстати.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6" name="Google Shape;842;p37"/>
          <p:cNvGrpSpPr/>
          <p:nvPr/>
        </p:nvGrpSpPr>
        <p:grpSpPr>
          <a:xfrm>
            <a:off x="-785850" y="1571618"/>
            <a:ext cx="4429156" cy="4714890"/>
            <a:chOff x="-947520" y="-1339200"/>
            <a:chExt cx="4615560" cy="4674960"/>
          </a:xfrm>
        </p:grpSpPr>
        <p:grpSp>
          <p:nvGrpSpPr>
            <p:cNvPr id="787" name="Google Shape;844;p37"/>
            <p:cNvGrpSpPr/>
            <p:nvPr/>
          </p:nvGrpSpPr>
          <p:grpSpPr>
            <a:xfrm>
              <a:off x="144360" y="450000"/>
              <a:ext cx="1096560" cy="1096560"/>
              <a:chOff x="144360" y="450000"/>
              <a:chExt cx="1096560" cy="1096560"/>
            </a:xfrm>
          </p:grpSpPr>
          <p:sp>
            <p:nvSpPr>
              <p:cNvPr id="788" name="Google Shape;845;p37"/>
              <p:cNvSpPr/>
              <p:nvPr/>
            </p:nvSpPr>
            <p:spPr>
              <a:xfrm>
                <a:off x="144360" y="45000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89" name="Google Shape;846;p37"/>
              <p:cNvSpPr/>
              <p:nvPr/>
            </p:nvSpPr>
            <p:spPr>
              <a:xfrm>
                <a:off x="200880" y="50652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0" name="Google Shape;847;p37"/>
              <p:cNvSpPr/>
              <p:nvPr/>
            </p:nvSpPr>
            <p:spPr>
              <a:xfrm>
                <a:off x="253800" y="55944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1" name="Google Shape;848;p37"/>
              <p:cNvSpPr/>
              <p:nvPr/>
            </p:nvSpPr>
            <p:spPr>
              <a:xfrm>
                <a:off x="308880" y="61452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2" name="Google Shape;849;p37"/>
              <p:cNvSpPr/>
              <p:nvPr/>
            </p:nvSpPr>
            <p:spPr>
              <a:xfrm>
                <a:off x="363600" y="6692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3" name="Google Shape;850;p37"/>
              <p:cNvSpPr/>
              <p:nvPr/>
            </p:nvSpPr>
            <p:spPr>
              <a:xfrm>
                <a:off x="418680" y="7239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4" name="Google Shape;851;p37"/>
              <p:cNvSpPr/>
              <p:nvPr/>
            </p:nvSpPr>
            <p:spPr>
              <a:xfrm>
                <a:off x="479520" y="78516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795" name="Google Shape;852;p37"/>
              <p:cNvSpPr/>
              <p:nvPr/>
            </p:nvSpPr>
            <p:spPr>
              <a:xfrm>
                <a:off x="540360" y="8460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t">
                <a:noAutofit/>
              </a:bodyPr>
              <a:lstStyle/>
              <a:p>
                <a:pPr algn="just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796" name="Google Shape;853;p37"/>
            <p:cNvSpPr/>
            <p:nvPr/>
          </p:nvSpPr>
          <p:spPr>
            <a:xfrm flipH="1">
              <a:off x="143640" y="189216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t">
              <a:noAutofit/>
            </a:bodyPr>
            <a:lstStyle/>
            <a:p>
              <a:pPr algn="just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  <p:sp>
        <p:nvSpPr>
          <p:cNvPr id="784" name="PlaceHolder 1"/>
          <p:cNvSpPr>
            <a:spLocks noGrp="1"/>
          </p:cNvSpPr>
          <p:nvPr>
            <p:ph type="title"/>
          </p:nvPr>
        </p:nvSpPr>
        <p:spPr>
          <a:xfrm>
            <a:off x="142844" y="214296"/>
            <a:ext cx="3286148" cy="842690"/>
          </a:xfrm>
          <a:prstGeom prst="rect">
            <a:avLst/>
          </a:prstGeom>
          <a:noFill/>
          <a:ln w="0">
            <a:solidFill>
              <a:schemeClr val="accent3"/>
            </a:solidFill>
          </a:ln>
        </p:spPr>
        <p:txBody>
          <a:bodyPr lIns="91440" tIns="91440" rIns="91440" bIns="91440" anchor="b">
            <a:norm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2000" b="0" strike="noStrike" spc="-1" dirty="0">
                <a:solidFill>
                  <a:schemeClr val="dk1"/>
                </a:solidFill>
                <a:latin typeface="Times New Roman" pitchFamily="18" charset="0"/>
                <a:ea typeface="DM Sans Medium"/>
                <a:cs typeface="Times New Roman" pitchFamily="18" charset="0"/>
              </a:rPr>
              <a:t>Сокращения для </a:t>
            </a:r>
            <a:r>
              <a:rPr lang="ru-RU" sz="2000" spc="-1" dirty="0" smtClean="0">
                <a:solidFill>
                  <a:schemeClr val="dk1"/>
                </a:solidFill>
                <a:latin typeface="Times New Roman" pitchFamily="18" charset="0"/>
                <a:ea typeface="DM Sans Medium"/>
                <a:cs typeface="Times New Roman" pitchFamily="18" charset="0"/>
              </a:rPr>
              <a:t>скорости и создания дружеского тона</a:t>
            </a:r>
            <a:endParaRPr lang="fr-FR" sz="20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85" name="PlaceHolder 2"/>
          <p:cNvSpPr>
            <a:spLocks noGrp="1"/>
          </p:cNvSpPr>
          <p:nvPr>
            <p:ph type="subTitle"/>
          </p:nvPr>
        </p:nvSpPr>
        <p:spPr>
          <a:xfrm>
            <a:off x="214282" y="1428742"/>
            <a:ext cx="3500462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Наиболее частые сокращения: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THX(29%)Thanks-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спасибо.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NP(26%)No Problem-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без проблем.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BRB(17%)Be Right Back-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скоро вернус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ь.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LOL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(16%)</a:t>
            </a:r>
            <a:r>
              <a:rPr lang="en-US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Laughing Out Load-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очень смешно.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OMG(12%)-Oh My God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боже мой.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ru-RU" sz="1400" b="0" strike="noStrike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Диаграмма 14"/>
          <p:cNvGraphicFramePr/>
          <p:nvPr/>
        </p:nvGraphicFramePr>
        <p:xfrm>
          <a:off x="3428992" y="428610"/>
          <a:ext cx="5715008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428596" y="285734"/>
            <a:ext cx="2999880" cy="699638"/>
          </a:xfrm>
          <a:prstGeom prst="rect">
            <a:avLst/>
          </a:prstGeom>
          <a:noFill/>
          <a:ln w="0">
            <a:solidFill>
              <a:schemeClr val="accent3"/>
            </a:solidFill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strike="noStrike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Сокращения,связанные</a:t>
            </a:r>
            <a:r>
              <a:rPr lang="ru-RU" sz="20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с учебным процессом</a:t>
            </a:r>
            <a:endParaRPr lang="fr-FR" sz="20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99" name="PlaceHolder 2"/>
          <p:cNvSpPr>
            <a:spLocks noGrp="1"/>
          </p:cNvSpPr>
          <p:nvPr>
            <p:ph type="subTitle"/>
          </p:nvPr>
        </p:nvSpPr>
        <p:spPr>
          <a:xfrm>
            <a:off x="285720" y="1357304"/>
            <a:ext cx="4071966" cy="32341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Наиболее частые сокращения: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HW(40%)Homework-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домашнее задание.</a:t>
            </a:r>
            <a:endParaRPr lang="en-US" sz="1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2.FAQ(19%)Frequently Asked Questions-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часто задаваемые вопросы</a:t>
            </a:r>
            <a:endParaRPr lang="en-US" sz="1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3.ETA(16%)Estimated Time Of Arrival-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 контексте сроков сдачи работы.</a:t>
            </a:r>
            <a:endParaRPr lang="en-US" sz="1400" b="0" strike="noStrike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4.TBA(13%)To Be Announced-</a:t>
            </a:r>
            <a:r>
              <a:rPr lang="ru-RU" sz="1400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объявлено позже</a:t>
            </a:r>
            <a:endParaRPr lang="en-US" sz="1400" spc="-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5.P.S(12%)Post Scriptum-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послесловие.</a:t>
            </a:r>
            <a:endParaRPr lang="en-US" sz="14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Диаграмма 5"/>
          <p:cNvGraphicFramePr/>
          <p:nvPr/>
        </p:nvGraphicFramePr>
        <p:xfrm>
          <a:off x="2928926" y="357172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/>
          <p:nvPr/>
        </p:nvGraphicFramePr>
        <p:xfrm>
          <a:off x="1524000" y="539750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/>
          <p:cNvGraphicFramePr/>
          <p:nvPr/>
        </p:nvGraphicFramePr>
        <p:xfrm>
          <a:off x="1428728" y="500048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1357;p64"/>
          <p:cNvGrpSpPr/>
          <p:nvPr/>
        </p:nvGrpSpPr>
        <p:grpSpPr>
          <a:xfrm>
            <a:off x="4471920" y="1112040"/>
            <a:ext cx="3958560" cy="2919240"/>
            <a:chOff x="4471920" y="1112040"/>
            <a:chExt cx="3958560" cy="2919240"/>
          </a:xfrm>
        </p:grpSpPr>
        <p:sp>
          <p:nvSpPr>
            <p:cNvPr id="815" name="Google Shape;1358;p64"/>
            <p:cNvSpPr/>
            <p:nvPr/>
          </p:nvSpPr>
          <p:spPr>
            <a:xfrm rot="10800000" flipH="1">
              <a:off x="5590440" y="3629520"/>
              <a:ext cx="1721160" cy="401760"/>
            </a:xfrm>
            <a:prstGeom prst="flowChartManualOperation">
              <a:avLst/>
            </a:prstGeom>
            <a:solidFill>
              <a:schemeClr val="lt1"/>
            </a:solidFill>
            <a:ln w="19050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  <p:sp>
          <p:nvSpPr>
            <p:cNvPr id="816" name="Google Shape;1359;p64"/>
            <p:cNvSpPr/>
            <p:nvPr/>
          </p:nvSpPr>
          <p:spPr>
            <a:xfrm>
              <a:off x="4471920" y="1112040"/>
              <a:ext cx="3958560" cy="256608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rgbClr val="0D0D0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000000"/>
                </a:solidFill>
                <a:latin typeface="OpenSymbol"/>
              </a:endParaRPr>
            </a:p>
          </p:txBody>
        </p:sp>
      </p:grpSp>
      <p:pic>
        <p:nvPicPr>
          <p:cNvPr id="817" name="Google Shape;1360;p64"/>
          <p:cNvPicPr/>
          <p:nvPr/>
        </p:nvPicPr>
        <p:blipFill>
          <a:blip r:embed="rId2"/>
          <a:srcRect l="3891" r="3883"/>
          <a:stretch/>
        </p:blipFill>
        <p:spPr>
          <a:xfrm>
            <a:off x="4622400" y="1279800"/>
            <a:ext cx="3657960" cy="2230920"/>
          </a:xfrm>
          <a:prstGeom prst="rect">
            <a:avLst/>
          </a:prstGeom>
          <a:ln w="19050">
            <a:solidFill>
              <a:srgbClr val="0D0D0D"/>
            </a:solidFill>
            <a:round/>
          </a:ln>
        </p:spPr>
      </p:pic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857224" y="71420"/>
            <a:ext cx="2000264" cy="628332"/>
          </a:xfrm>
          <a:prstGeom prst="rect">
            <a:avLst/>
          </a:prstGeom>
          <a:noFill/>
          <a:ln w="0">
            <a:solidFill>
              <a:schemeClr val="accent3"/>
            </a:solidFill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30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DM Sans Medium"/>
                <a:cs typeface="Times New Roman" pitchFamily="18" charset="0"/>
              </a:rPr>
              <a:t>Заключени</a:t>
            </a:r>
            <a:r>
              <a:rPr lang="ru-RU" sz="30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DM Sans Medium"/>
                <a:cs typeface="Times New Roman" pitchFamily="18" charset="0"/>
              </a:rPr>
              <a:t>е</a:t>
            </a:r>
            <a:endParaRPr lang="fr-FR" sz="30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 type="subTitle"/>
          </p:nvPr>
        </p:nvSpPr>
        <p:spPr>
          <a:xfrm>
            <a:off x="714348" y="714362"/>
            <a:ext cx="3123720" cy="761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4800" b="0" strike="noStrike" spc="-1" dirty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Сокращения в электронной переписке облегчают и ускоряют общение, позволяя поддерживать как неформальный, так и деловой стиль. Их использование позволяет сохранить вежливость, подтвердить информацию и выразить благодарность, что делает общение более </a:t>
            </a:r>
            <a:r>
              <a:rPr lang="en" sz="48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эффективным.</a:t>
            </a:r>
            <a:r>
              <a:rPr lang="ru-RU" sz="48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Это удобный </a:t>
            </a:r>
            <a:r>
              <a:rPr lang="ru-RU" sz="4800" b="0" strike="noStrike" spc="-1" dirty="0" err="1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инструмент,требующий</a:t>
            </a:r>
            <a:r>
              <a:rPr lang="ru-RU" sz="48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 осознанного </a:t>
            </a:r>
            <a:r>
              <a:rPr lang="ru-RU" sz="4800" b="0" strike="noStrike" spc="-1" dirty="0" err="1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подхода.Их</a:t>
            </a:r>
            <a:r>
              <a:rPr lang="ru-RU" sz="48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 уместность зависит от </a:t>
            </a:r>
            <a:r>
              <a:rPr lang="ru-RU" sz="4800" b="0" strike="noStrike" spc="-1" dirty="0" err="1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контекста,аудитории</a:t>
            </a:r>
            <a:r>
              <a:rPr lang="ru-RU" sz="48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 и </a:t>
            </a:r>
            <a:r>
              <a:rPr lang="ru-RU" sz="5600" b="0" strike="noStrike" spc="-1" dirty="0" smtClean="0">
                <a:solidFill>
                  <a:schemeClr val="dk1"/>
                </a:solidFill>
                <a:latin typeface="Times New Roman" pitchFamily="18" charset="0"/>
                <a:ea typeface="Roboto"/>
                <a:cs typeface="Times New Roman" pitchFamily="18" charset="0"/>
              </a:rPr>
              <a:t>цели сообщения.</a:t>
            </a:r>
            <a:r>
              <a:rPr lang="ru-RU" sz="1200" b="0" strike="noStrike" spc="-1" dirty="0" smtClean="0">
                <a:solidFill>
                  <a:schemeClr val="dk1"/>
                </a:solidFill>
                <a:latin typeface="Roboto"/>
                <a:ea typeface="Roboto"/>
              </a:rPr>
              <a:t>.</a:t>
            </a:r>
            <a:endParaRPr lang="en-US" sz="12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4348" y="2571750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Выводы: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2910" y="3000378"/>
            <a:ext cx="35004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Гипотеза о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том,что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употребление и понимание английских сокращений в переписке повышает эффективность и удобство общения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подтверждается,но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только при правильном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использовании,учитывая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аудиторию и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контекст.Необходимо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соблюдать меру и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убедиться,что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все участники общения понимают применяемые сокращения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title"/>
          </p:nvPr>
        </p:nvSpPr>
        <p:spPr>
          <a:xfrm>
            <a:off x="1142976" y="142858"/>
            <a:ext cx="5810040" cy="11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55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Список литературы</a:t>
            </a:r>
            <a:endParaRPr lang="fr-FR" sz="55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02" name="PlaceHolder 2"/>
          <p:cNvSpPr>
            <a:spLocks noGrp="1"/>
          </p:cNvSpPr>
          <p:nvPr>
            <p:ph type="subTitle"/>
          </p:nvPr>
        </p:nvSpPr>
        <p:spPr>
          <a:xfrm>
            <a:off x="928662" y="1571618"/>
            <a:ext cx="5810040" cy="152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en-US" sz="6400" b="0" strike="noStrike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1.Crystal,D</a:t>
            </a: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.(2008).*</a:t>
            </a:r>
            <a:r>
              <a:rPr lang="en-US" sz="6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Txtng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The Gr8 Db8*.</a:t>
            </a:r>
            <a:r>
              <a:rPr lang="en-US" sz="6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Oxdord</a:t>
            </a: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University Press</a:t>
            </a:r>
            <a:endParaRPr lang="ru-RU" sz="6400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endParaRPr lang="en-US" sz="64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2.Baron,N.S.(2003).Language of the Internet*.Stanford University Press</a:t>
            </a:r>
            <a:endParaRPr lang="ru-RU" sz="6400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endParaRPr lang="en-US" sz="64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Петрова</a:t>
            </a: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А.В(2020).*Цифровая </a:t>
            </a:r>
            <a:r>
              <a:rPr lang="ru-RU" sz="6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коммуникация:тенденции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и риски*.</a:t>
            </a:r>
            <a:r>
              <a:rPr lang="ru-RU" sz="6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Москва:Издательства</a:t>
            </a:r>
            <a:r>
              <a:rPr lang="ru-RU" sz="6400" spc="-1" dirty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«</a:t>
            </a:r>
            <a:r>
              <a:rPr lang="ru-RU" sz="6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Лингва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».</a:t>
            </a:r>
            <a:endParaRPr lang="en-US" sz="6400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endParaRPr lang="ru-RU" sz="64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  <a:hlinkClick r:id="rId2"/>
              </a:rPr>
              <a:t>4.*Cambridge Dictionary Online*.URL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  <a:hlinkClick r:id="rId2"/>
              </a:rPr>
              <a:t>:</a:t>
            </a:r>
            <a:endParaRPr lang="en-US" sz="6400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en-US" sz="6400" dirty="0" smtClean="0">
                <a:latin typeface="Times New Roman" pitchFamily="18" charset="0"/>
                <a:cs typeface="Times New Roman" pitchFamily="18" charset="0"/>
                <a:hlinkClick r:id="rId2"/>
              </a:rPr>
              <a:t>Cambridge Dictionary | English Dictionary, Translations &amp; Thesaurus</a:t>
            </a:r>
            <a:endParaRPr lang="ru-RU" sz="6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endParaRPr lang="en-US" sz="6400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5.Белова</a:t>
            </a:r>
            <a:r>
              <a:rPr lang="en-US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sz="64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А.(2020)*Популярные сокращения в английском*.</a:t>
            </a:r>
            <a:r>
              <a:rPr lang="en-US" sz="6400" spc="-1" dirty="0" err="1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Skysmart</a:t>
            </a:r>
            <a:endParaRPr lang="en-US" sz="6400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r>
              <a:rPr lang="ru-RU" sz="5600" dirty="0" smtClean="0">
                <a:latin typeface="Times New Roman" pitchFamily="18" charset="0"/>
                <a:cs typeface="Times New Roman" pitchFamily="18" charset="0"/>
                <a:hlinkClick r:id="rId3"/>
              </a:rPr>
              <a:t>Самые популярные сокращения и аббревиатуры в Английском языке</a:t>
            </a:r>
            <a:endParaRPr lang="ru-RU" sz="5600" b="1" spc="-1" dirty="0" smtClean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l">
              <a:lnSpc>
                <a:spcPct val="100000"/>
              </a:lnSpc>
              <a:tabLst>
                <a:tab pos="0" algn="l"/>
              </a:tabLst>
            </a:pPr>
            <a:endParaRPr lang="en-US" sz="64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marL="342900" indent="-342900" algn="l">
              <a:lnSpc>
                <a:spcPct val="100000"/>
              </a:lnSpc>
              <a:buFont typeface="+mj-lt"/>
              <a:buAutoNum type="arabicPeriod"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spc="-1" dirty="0" smtClean="0">
              <a:solidFill>
                <a:schemeClr val="dk1"/>
              </a:solidFill>
              <a:latin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grpSp>
        <p:nvGrpSpPr>
          <p:cNvPr id="803" name="Google Shape;842;p37"/>
          <p:cNvGrpSpPr/>
          <p:nvPr/>
        </p:nvGrpSpPr>
        <p:grpSpPr>
          <a:xfrm>
            <a:off x="-947520" y="-1339200"/>
            <a:ext cx="4615560" cy="4674960"/>
            <a:chOff x="-947520" y="-1339200"/>
            <a:chExt cx="4615560" cy="4674960"/>
          </a:xfrm>
        </p:grpSpPr>
        <p:grpSp>
          <p:nvGrpSpPr>
            <p:cNvPr id="804" name="Google Shape;844;p37"/>
            <p:cNvGrpSpPr/>
            <p:nvPr/>
          </p:nvGrpSpPr>
          <p:grpSpPr>
            <a:xfrm>
              <a:off x="144360" y="450000"/>
              <a:ext cx="1096560" cy="1096560"/>
              <a:chOff x="144360" y="450000"/>
              <a:chExt cx="1096560" cy="1096560"/>
            </a:xfrm>
          </p:grpSpPr>
          <p:sp>
            <p:nvSpPr>
              <p:cNvPr id="805" name="Google Shape;845;p37"/>
              <p:cNvSpPr/>
              <p:nvPr/>
            </p:nvSpPr>
            <p:spPr>
              <a:xfrm>
                <a:off x="144360" y="450000"/>
                <a:ext cx="1096560" cy="1096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6" name="Google Shape;846;p37"/>
              <p:cNvSpPr/>
              <p:nvPr/>
            </p:nvSpPr>
            <p:spPr>
              <a:xfrm>
                <a:off x="200880" y="50652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7" name="Google Shape;847;p37"/>
              <p:cNvSpPr/>
              <p:nvPr/>
            </p:nvSpPr>
            <p:spPr>
              <a:xfrm>
                <a:off x="253800" y="55944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8" name="Google Shape;848;p37"/>
              <p:cNvSpPr/>
              <p:nvPr/>
            </p:nvSpPr>
            <p:spPr>
              <a:xfrm>
                <a:off x="308880" y="61452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09" name="Google Shape;849;p37"/>
              <p:cNvSpPr/>
              <p:nvPr/>
            </p:nvSpPr>
            <p:spPr>
              <a:xfrm>
                <a:off x="363600" y="66924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0" name="Google Shape;850;p37"/>
              <p:cNvSpPr/>
              <p:nvPr/>
            </p:nvSpPr>
            <p:spPr>
              <a:xfrm>
                <a:off x="418680" y="723960"/>
                <a:ext cx="548280" cy="5482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1" name="Google Shape;851;p37"/>
              <p:cNvSpPr/>
              <p:nvPr/>
            </p:nvSpPr>
            <p:spPr>
              <a:xfrm>
                <a:off x="479520" y="785160"/>
                <a:ext cx="426240" cy="4262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12" name="Google Shape;852;p37"/>
              <p:cNvSpPr/>
              <p:nvPr/>
            </p:nvSpPr>
            <p:spPr>
              <a:xfrm>
                <a:off x="540360" y="84600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  <p:sp>
          <p:nvSpPr>
            <p:cNvPr id="813" name="Google Shape;853;p37"/>
            <p:cNvSpPr/>
            <p:nvPr/>
          </p:nvSpPr>
          <p:spPr>
            <a:xfrm flipH="1">
              <a:off x="143640" y="189216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title"/>
          </p:nvPr>
        </p:nvSpPr>
        <p:spPr>
          <a:xfrm>
            <a:off x="714348" y="142858"/>
            <a:ext cx="4447800" cy="69978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spc="-1" dirty="0" smtClean="0">
                <a:solidFill>
                  <a:schemeClr val="dk1"/>
                </a:solidFill>
                <a:latin typeface="Times New Roman" pitchFamily="18" charset="0"/>
                <a:cs typeface="Times New Roman" pitchFamily="18" charset="0"/>
              </a:rPr>
              <a:t>Приложение 1.</a:t>
            </a:r>
            <a:endParaRPr lang="fr-FR" sz="3600" b="0" strike="noStrike" spc="-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21" name="PlaceHolder 2"/>
          <p:cNvSpPr>
            <a:spLocks noGrp="1"/>
          </p:cNvSpPr>
          <p:nvPr>
            <p:ph type="subTitle"/>
          </p:nvPr>
        </p:nvSpPr>
        <p:spPr>
          <a:xfrm>
            <a:off x="-1071602" y="3929072"/>
            <a:ext cx="444780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tabLst>
                <a:tab pos="0" algn="l"/>
              </a:tabLst>
            </a:pPr>
            <a:r>
              <a:rPr lang="ru-RU" sz="1600" b="0" strike="noStrike" spc="-1" dirty="0" smtClean="0">
                <a:solidFill>
                  <a:srgbClr val="000000"/>
                </a:solidFill>
                <a:latin typeface="OpenSymbol"/>
              </a:rPr>
              <a:t>.</a:t>
            </a:r>
            <a:endParaRPr lang="en-US" sz="1600" b="0" strike="noStrike" spc="-1" dirty="0">
              <a:solidFill>
                <a:srgbClr val="000000"/>
              </a:solidFill>
              <a:latin typeface="OpenSymbol"/>
            </a:endParaRPr>
          </a:p>
        </p:txBody>
      </p:sp>
      <p:sp>
        <p:nvSpPr>
          <p:cNvPr id="822" name="Google Shape;1396;p68"/>
          <p:cNvSpPr/>
          <p:nvPr/>
        </p:nvSpPr>
        <p:spPr>
          <a:xfrm>
            <a:off x="3543480" y="2886120"/>
            <a:ext cx="63792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18960" rIns="870823080" bIns="318960" anchor="t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3" name="Google Shape;1397;p68"/>
          <p:cNvSpPr/>
          <p:nvPr/>
        </p:nvSpPr>
        <p:spPr>
          <a:xfrm>
            <a:off x="2619360" y="2886120"/>
            <a:ext cx="63792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18960" rIns="870823080" bIns="318960" anchor="t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sp>
        <p:nvSpPr>
          <p:cNvPr id="824" name="Google Shape;1398;p68"/>
          <p:cNvSpPr/>
          <p:nvPr/>
        </p:nvSpPr>
        <p:spPr>
          <a:xfrm>
            <a:off x="1695600" y="2886120"/>
            <a:ext cx="63792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18960" rIns="870823080" bIns="318960" anchor="t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strike="noStrike" spc="-1">
              <a:solidFill>
                <a:schemeClr val="dk1"/>
              </a:solidFill>
              <a:latin typeface="Arial"/>
            </a:endParaRPr>
          </a:p>
        </p:txBody>
      </p:sp>
      <p:grpSp>
        <p:nvGrpSpPr>
          <p:cNvPr id="825" name="Google Shape;1399;p68"/>
          <p:cNvGrpSpPr/>
          <p:nvPr/>
        </p:nvGrpSpPr>
        <p:grpSpPr>
          <a:xfrm>
            <a:off x="5214942" y="928676"/>
            <a:ext cx="3029400" cy="3446280"/>
            <a:chOff x="5376600" y="848880"/>
            <a:chExt cx="3029400" cy="3446280"/>
          </a:xfrm>
        </p:grpSpPr>
        <p:sp>
          <p:nvSpPr>
            <p:cNvPr id="826" name="Google Shape;1400;p68"/>
            <p:cNvSpPr/>
            <p:nvPr/>
          </p:nvSpPr>
          <p:spPr>
            <a:xfrm flipH="1">
              <a:off x="5681160" y="2121480"/>
              <a:ext cx="273960" cy="273960"/>
            </a:xfrm>
            <a:prstGeom prst="mathPlus">
              <a:avLst>
                <a:gd name="adj1" fmla="val 6854"/>
              </a:avLst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360" bIns="936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strike="noStrike" spc="-1">
                <a:solidFill>
                  <a:srgbClr val="FFFFFF"/>
                </a:solidFill>
                <a:latin typeface="OpenSymbol"/>
              </a:endParaRPr>
            </a:p>
          </p:txBody>
        </p:sp>
        <p:grpSp>
          <p:nvGrpSpPr>
            <p:cNvPr id="827" name="Google Shape;1403;p68"/>
            <p:cNvGrpSpPr/>
            <p:nvPr/>
          </p:nvGrpSpPr>
          <p:grpSpPr>
            <a:xfrm>
              <a:off x="7290000" y="1988280"/>
              <a:ext cx="32400" cy="273960"/>
              <a:chOff x="7290000" y="1988280"/>
              <a:chExt cx="32400" cy="273960"/>
            </a:xfrm>
          </p:grpSpPr>
          <p:sp>
            <p:nvSpPr>
              <p:cNvPr id="828" name="Google Shape;1404;p68"/>
              <p:cNvSpPr/>
              <p:nvPr/>
            </p:nvSpPr>
            <p:spPr>
              <a:xfrm rot="5400000">
                <a:off x="7290000" y="198828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29" name="Google Shape;1405;p68"/>
              <p:cNvSpPr/>
              <p:nvPr/>
            </p:nvSpPr>
            <p:spPr>
              <a:xfrm rot="5400000">
                <a:off x="7290000" y="20487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30" name="Google Shape;1406;p68"/>
              <p:cNvSpPr/>
              <p:nvPr/>
            </p:nvSpPr>
            <p:spPr>
              <a:xfrm rot="5400000">
                <a:off x="7290000" y="21092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31" name="Google Shape;1407;p68"/>
              <p:cNvSpPr/>
              <p:nvPr/>
            </p:nvSpPr>
            <p:spPr>
              <a:xfrm rot="5400000">
                <a:off x="7290000" y="216936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  <p:sp>
            <p:nvSpPr>
              <p:cNvPr id="832" name="Google Shape;1408;p68"/>
              <p:cNvSpPr/>
              <p:nvPr/>
            </p:nvSpPr>
            <p:spPr>
              <a:xfrm rot="5400000">
                <a:off x="7290000" y="2229840"/>
                <a:ext cx="32400" cy="3240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1520" bIns="11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FFFFFF"/>
                  </a:solidFill>
                  <a:latin typeface="OpenSymbol"/>
                </a:endParaRPr>
              </a:p>
            </p:txBody>
          </p:sp>
        </p:grpSp>
        <p:grpSp>
          <p:nvGrpSpPr>
            <p:cNvPr id="833" name="Google Shape;1409;p68"/>
            <p:cNvGrpSpPr/>
            <p:nvPr/>
          </p:nvGrpSpPr>
          <p:grpSpPr>
            <a:xfrm>
              <a:off x="6042960" y="3197880"/>
              <a:ext cx="1096920" cy="1096920"/>
              <a:chOff x="6042960" y="3197880"/>
              <a:chExt cx="1096920" cy="1096920"/>
            </a:xfrm>
          </p:grpSpPr>
          <p:sp>
            <p:nvSpPr>
              <p:cNvPr id="834" name="Google Shape;1410;p68"/>
              <p:cNvSpPr/>
              <p:nvPr/>
            </p:nvSpPr>
            <p:spPr>
              <a:xfrm>
                <a:off x="6042960" y="3197880"/>
                <a:ext cx="1096920" cy="10969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5" name="Google Shape;1411;p68"/>
              <p:cNvSpPr/>
              <p:nvPr/>
            </p:nvSpPr>
            <p:spPr>
              <a:xfrm>
                <a:off x="6099480" y="3254400"/>
                <a:ext cx="983520" cy="983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6" name="Google Shape;1412;p68"/>
              <p:cNvSpPr/>
              <p:nvPr/>
            </p:nvSpPr>
            <p:spPr>
              <a:xfrm>
                <a:off x="6152400" y="3307680"/>
                <a:ext cx="877680" cy="8776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7" name="Google Shape;1413;p68"/>
              <p:cNvSpPr/>
              <p:nvPr/>
            </p:nvSpPr>
            <p:spPr>
              <a:xfrm>
                <a:off x="6207480" y="3362400"/>
                <a:ext cx="767520" cy="76752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8" name="Google Shape;1414;p68"/>
              <p:cNvSpPr/>
              <p:nvPr/>
            </p:nvSpPr>
            <p:spPr>
              <a:xfrm>
                <a:off x="6262200" y="3417480"/>
                <a:ext cx="658080" cy="65808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39" name="Google Shape;1415;p68"/>
              <p:cNvSpPr/>
              <p:nvPr/>
            </p:nvSpPr>
            <p:spPr>
              <a:xfrm>
                <a:off x="6316920" y="3472200"/>
                <a:ext cx="548640" cy="54864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40" name="Google Shape;1416;p68"/>
              <p:cNvSpPr/>
              <p:nvPr/>
            </p:nvSpPr>
            <p:spPr>
              <a:xfrm>
                <a:off x="6378120" y="3533040"/>
                <a:ext cx="426600" cy="42660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  <p:sp>
            <p:nvSpPr>
              <p:cNvPr id="841" name="Google Shape;1417;p68"/>
              <p:cNvSpPr/>
              <p:nvPr/>
            </p:nvSpPr>
            <p:spPr>
              <a:xfrm>
                <a:off x="6438960" y="3594240"/>
                <a:ext cx="304560" cy="304560"/>
              </a:xfrm>
              <a:prstGeom prst="ellipse">
                <a:avLst/>
              </a:prstGeom>
              <a:noFill/>
              <a:ln w="9525">
                <a:solidFill>
                  <a:srgbClr val="0D0D0D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strike="noStrike" spc="-1">
                  <a:solidFill>
                    <a:srgbClr val="000000"/>
                  </a:solidFill>
                  <a:latin typeface="OpenSymbol"/>
                </a:endParaRPr>
              </a:p>
            </p:txBody>
          </p:sp>
        </p:grpSp>
      </p:grpSp>
      <p:pic>
        <p:nvPicPr>
          <p:cNvPr id="25" name="Рисунок 24" descr="9eefe353c395982383718d76a069ad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00" y="785800"/>
            <a:ext cx="6143668" cy="4000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xmlns:p15="http://schemas.microsoft.com/office/powerpoint/2012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1538" y="142858"/>
            <a:ext cx="27996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Приложение 2.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Рисунок 2" descr="slide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714362"/>
            <a:ext cx="5597564" cy="40005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Business Project Presentation by Slidesgo">
  <a:themeElements>
    <a:clrScheme name="Simple Light">
      <a:dk1>
        <a:srgbClr val="0D0D0D"/>
      </a:dk1>
      <a:lt1>
        <a:srgbClr val="E9E5DF"/>
      </a:lt1>
      <a:dk2>
        <a:srgbClr val="B3D8EA"/>
      </a:dk2>
      <a:lt2>
        <a:srgbClr val="85D3F2"/>
      </a:lt2>
      <a:accent1>
        <a:srgbClr val="7292F2"/>
      </a:accent1>
      <a:accent2>
        <a:srgbClr val="3D66F3"/>
      </a:accent2>
      <a:accent3>
        <a:srgbClr val="284BF6"/>
      </a:accent3>
      <a:accent4>
        <a:srgbClr val="FFFFFF"/>
      </a:accent4>
      <a:accent5>
        <a:srgbClr val="FFFFFF"/>
      </a:accent5>
      <a:accent6>
        <a:srgbClr val="FFFFFF"/>
      </a:accent6>
      <a:hlink>
        <a:srgbClr val="0D0D0D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/>
        </a:defPPr>
      </a:lstStyle>
    </a:txDef>
  </a:objectDefaults>
  <a:extraClrSchemeLst/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Words>803</Words>
  <Application>LibreOffice/7.6.7.2$Linux_X86_64 LibreOffice_project/60$Build-2</Application>
  <PresentationFormat>Экран (16:9)</PresentationFormat>
  <Paragraphs>176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8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Business Project Presentation by Slidesgo</vt:lpstr>
      <vt:lpstr>Business Project Presentation by Slidesgo</vt:lpstr>
      <vt:lpstr>Business Project Presentation by Slidesgo</vt:lpstr>
      <vt:lpstr>Business Project Presentation by Slidesgo</vt:lpstr>
      <vt:lpstr>Business Project Presentation by Slidesgo</vt:lpstr>
      <vt:lpstr>Business Project Presentation by Slidesgo</vt:lpstr>
      <vt:lpstr>Business Project Presentation by Slidesgo</vt:lpstr>
      <vt:lpstr>Business Project Presentation by Slidesgo</vt:lpstr>
      <vt:lpstr>Английские сокращения </vt:lpstr>
      <vt:lpstr>Актуальность</vt:lpstr>
      <vt:lpstr>  </vt:lpstr>
      <vt:lpstr>Понятие-сокращения в электронных переписках.</vt:lpstr>
      <vt:lpstr>Исторический контекст</vt:lpstr>
      <vt:lpstr>1.Методология исследования</vt:lpstr>
      <vt:lpstr>Сокращения для экономии времени и соблюдения формальности</vt:lpstr>
      <vt:lpstr>Сокращения для скорости и создания дружеского тона</vt:lpstr>
      <vt:lpstr>Сокращения,связанные с учебным процессом</vt:lpstr>
      <vt:lpstr>Слайд 10</vt:lpstr>
      <vt:lpstr>Слайд 11</vt:lpstr>
      <vt:lpstr>Заключение</vt:lpstr>
      <vt:lpstr>Список литературы</vt:lpstr>
      <vt:lpstr>Приложение 1.</vt:lpstr>
      <vt:lpstr>Слайд 15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Английские сокращения </dc:title>
  <cp:lastModifiedBy>Admin</cp:lastModifiedBy>
  <cp:revision>51</cp:revision>
  <dcterms:modified xsi:type="dcterms:W3CDTF">2025-03-11T15:29:14Z</dcterms:modified>
</cp:coreProperties>
</file>

<file path=docProps/core1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2025-03-07T09:06:01Z</dcterms:created>
  <dc:creator>Unknown Creator</dc:creator>
  <dc:description/>
  <dc:language>en-US</dc:language>
  <cp:lastModifiedBy>Unknown Creator</cp:lastModifiedBy>
  <dcterms:modified xsi:type="dcterms:W3CDTF">2025-03-07T09:06:01Z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